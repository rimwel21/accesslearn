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4"/>
  </p:notesMasterIdLst>
  <p:sldIdLst>
    <p:sldId id="257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337" r:id="rId20"/>
    <p:sldId id="338" r:id="rId21"/>
    <p:sldId id="339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40" r:id="rId35"/>
    <p:sldId id="341" r:id="rId36"/>
    <p:sldId id="342" r:id="rId37"/>
    <p:sldId id="300" r:id="rId38"/>
    <p:sldId id="302" r:id="rId39"/>
    <p:sldId id="303" r:id="rId40"/>
    <p:sldId id="34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44" r:id="rId57"/>
    <p:sldId id="345" r:id="rId58"/>
    <p:sldId id="346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49" r:id="rId74"/>
    <p:sldId id="350" r:id="rId75"/>
    <p:sldId id="351" r:id="rId76"/>
    <p:sldId id="334" r:id="rId77"/>
    <p:sldId id="335" r:id="rId78"/>
    <p:sldId id="336" r:id="rId79"/>
    <p:sldId id="347" r:id="rId80"/>
    <p:sldId id="352" r:id="rId81"/>
    <p:sldId id="348" r:id="rId82"/>
    <p:sldId id="333" r:id="rId83"/>
  </p:sldIdLst>
  <p:sldSz cx="18288000" cy="10287000"/>
  <p:notesSz cx="6858000" cy="9144000"/>
  <p:embeddedFontLst>
    <p:embeddedFont>
      <p:font typeface="Calibri" panose="020F0502020204030204" pitchFamily="34" charset="0"/>
      <p:regular r:id="rId85"/>
      <p:bold r:id="rId86"/>
      <p:italic r:id="rId87"/>
      <p:boldItalic r:id="rId88"/>
    </p:embeddedFont>
    <p:embeddedFont>
      <p:font typeface="Century Gothic" panose="020B0502020202020204" pitchFamily="34" charset="0"/>
      <p:regular r:id="rId89"/>
      <p:bold r:id="rId90"/>
      <p:italic r:id="rId91"/>
      <p:boldItalic r:id="rId92"/>
    </p:embeddedFont>
    <p:embeddedFont>
      <p:font typeface="Segoe UI Symbol" panose="020B0502040204020203" pitchFamily="34" charset="0"/>
      <p:regular r:id="rId9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20" y="8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4.fntdata"/><Relationship Id="rId91" Type="http://schemas.openxmlformats.org/officeDocument/2006/relationships/font" Target="fonts/font7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7213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8917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3764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9750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5665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5987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970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5496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0581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3504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6702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588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2353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6331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1664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292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0844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54773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2686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01069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22254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90319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5455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73741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29569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4070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78398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23265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42169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84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21889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68258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0774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59680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55419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45292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66429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83728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91215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49506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67506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0315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468318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38244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871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78183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13959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34813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98987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02434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43653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03496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20021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89946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75159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22468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829538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767883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4036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06780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438113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773640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987593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062917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873310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834265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087705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066964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344438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337742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337967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367936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33223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197395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73994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210088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432939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200602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558183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95753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7295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3174460" y="2462719"/>
            <a:ext cx="87889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latin typeface="Century Gothic" panose="020B0502020202020204" pitchFamily="34" charset="0"/>
              </a:rPr>
              <a:t>Science 6</a:t>
            </a:r>
            <a:br>
              <a:rPr lang="en-PH" sz="8800" dirty="0">
                <a:latin typeface="Century Gothic" panose="020B0502020202020204" pitchFamily="34" charset="0"/>
              </a:rPr>
            </a:br>
            <a:endParaRPr lang="en-PH" sz="8800" dirty="0">
              <a:latin typeface="Century Gothic" panose="020B0502020202020204" pitchFamily="34" charset="0"/>
            </a:endParaRPr>
          </a:p>
          <a:p>
            <a:pPr algn="ctr"/>
            <a:r>
              <a:rPr lang="en-PH" sz="8800" dirty="0">
                <a:latin typeface="Century Gothic" panose="020B0502020202020204" pitchFamily="34" charset="0"/>
              </a:rPr>
              <a:t>Week 4 – Day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2450560" y="2157919"/>
            <a:ext cx="116464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200" dirty="0">
                <a:latin typeface="Century Gothic" panose="020B0502020202020204" pitchFamily="34" charset="0"/>
              </a:rPr>
              <a:t>Objectives:</a:t>
            </a:r>
            <a:br>
              <a:rPr lang="en-PH" sz="4000" dirty="0">
                <a:latin typeface="Century Gothic" panose="020B0502020202020204" pitchFamily="34" charset="0"/>
              </a:rPr>
            </a:br>
            <a:br>
              <a:rPr lang="en-PH" sz="4800" dirty="0">
                <a:latin typeface="Century Gothic" panose="020B0502020202020204" pitchFamily="34" charset="0"/>
              </a:rPr>
            </a:br>
            <a:r>
              <a:rPr lang="en-US" sz="4800" dirty="0">
                <a:latin typeface="Century Gothic" panose="020B0502020202020204" pitchFamily="34" charset="0"/>
              </a:rPr>
              <a:t>Describe techniques in separating mixtures such as decantation, evaporation, filtering, sieving and using magnet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en-PH" sz="5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06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2107660" y="2919919"/>
            <a:ext cx="116464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latin typeface="Century Gothic" panose="020B0502020202020204" pitchFamily="34" charset="0"/>
              </a:rPr>
              <a:t>Separating mixtures through Decantation</a:t>
            </a:r>
          </a:p>
        </p:txBody>
      </p:sp>
    </p:spTree>
    <p:extLst>
      <p:ext uri="{BB962C8B-B14F-4D97-AF65-F5344CB8AC3E}">
        <p14:creationId xmlns:p14="http://schemas.microsoft.com/office/powerpoint/2010/main" val="348697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B9BD27-53C6-4D94-8139-7644CA0E9F19}"/>
              </a:ext>
            </a:extLst>
          </p:cNvPr>
          <p:cNvSpPr/>
          <p:nvPr/>
        </p:nvSpPr>
        <p:spPr>
          <a:xfrm>
            <a:off x="2019300" y="1293674"/>
            <a:ext cx="123825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study the given sample materials. Identify the type of mixtures for each sample.</a:t>
            </a:r>
            <a:endParaRPr lang="en-PH" sz="5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670F4C-5854-47B2-B625-9A95A687E68B}"/>
              </a:ext>
            </a:extLst>
          </p:cNvPr>
          <p:cNvSpPr/>
          <p:nvPr/>
        </p:nvSpPr>
        <p:spPr>
          <a:xfrm>
            <a:off x="3695700" y="3943678"/>
            <a:ext cx="9144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coffee dissolved in water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Milk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paper clips and pins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halo-halo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</a:rPr>
              <a:t>5. Salt solution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2379696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0EA331-A1AA-4B9A-9DE5-7FCDE1DB06B2}"/>
              </a:ext>
            </a:extLst>
          </p:cNvPr>
          <p:cNvSpPr/>
          <p:nvPr/>
        </p:nvSpPr>
        <p:spPr>
          <a:xfrm>
            <a:off x="2171700" y="3987038"/>
            <a:ext cx="59207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picture.</a:t>
            </a:r>
            <a:r>
              <a:rPr lang="en-PH" sz="4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can you see? </a:t>
            </a:r>
            <a:endParaRPr lang="en-PH" sz="4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Photograph | Water and Sand - Heterogeneous Mixture | Science Source Images">
            <a:extLst>
              <a:ext uri="{FF2B5EF4-FFF2-40B4-BE49-F238E27FC236}">
                <a16:creationId xmlns:a16="http://schemas.microsoft.com/office/drawing/2014/main" id="{1C73EDE3-9A4E-4151-9D23-23E2E8ABC2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440" y="2057401"/>
            <a:ext cx="4975860" cy="590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524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24CC75-40AB-4C8F-A0A1-E84A776B427B}"/>
              </a:ext>
            </a:extLst>
          </p:cNvPr>
          <p:cNvSpPr/>
          <p:nvPr/>
        </p:nvSpPr>
        <p:spPr>
          <a:xfrm>
            <a:off x="1981200" y="2976890"/>
            <a:ext cx="108585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Processing question: </a:t>
            </a:r>
            <a:endParaRPr lang="en-PH" sz="6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</a:rPr>
              <a:t>1. How are you going to separate the mixture?</a:t>
            </a:r>
            <a:endParaRPr lang="en-PH" sz="6000" dirty="0"/>
          </a:p>
        </p:txBody>
      </p:sp>
    </p:spTree>
    <p:extLst>
      <p:ext uri="{BB962C8B-B14F-4D97-AF65-F5344CB8AC3E}">
        <p14:creationId xmlns:p14="http://schemas.microsoft.com/office/powerpoint/2010/main" val="55452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5B3D8E-B488-4847-8B3E-504606901AE5}"/>
              </a:ext>
            </a:extLst>
          </p:cNvPr>
          <p:cNvSpPr/>
          <p:nvPr/>
        </p:nvSpPr>
        <p:spPr>
          <a:xfrm>
            <a:off x="2095500" y="1790581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The class will be divided into 3 groups. 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Each group will choose a leader and a reporter.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Each group will be given an activity sheet.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The activity card serves as your guide on the activity that you are going to perform.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All the members in the group must work as a team.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After the activity write the results of your activity on the activity sheet.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The leader will present the results/findings.</a:t>
            </a:r>
            <a:endParaRPr lang="en-PH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91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FB9962-1742-410E-9F3C-8DD6E9B0A4BF}"/>
              </a:ext>
            </a:extLst>
          </p:cNvPr>
          <p:cNvSpPr/>
          <p:nvPr/>
        </p:nvSpPr>
        <p:spPr>
          <a:xfrm>
            <a:off x="2057400" y="1033790"/>
            <a:ext cx="12877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Activity: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 Separating mixtures through Decantation</a:t>
            </a:r>
            <a:endParaRPr lang="en-PH" sz="4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2B40C4-A8B4-4C28-B58E-83B9A3A1BADC}"/>
              </a:ext>
            </a:extLst>
          </p:cNvPr>
          <p:cNvSpPr/>
          <p:nvPr/>
        </p:nvSpPr>
        <p:spPr>
          <a:xfrm>
            <a:off x="2971800" y="2641550"/>
            <a:ext cx="112776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II. Materials: </a:t>
            </a:r>
            <a:b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sand, clear water, 2 beakers/glasses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III. Procedures: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Check the apparatus to be used.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Put the sand in water. 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 the mixture settler for 10 minutes. 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Slowly pour the water to another container without disturbing the sand at the bottom. 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085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AC041B-D2B3-4E55-B99B-AA85C382A15A}"/>
              </a:ext>
            </a:extLst>
          </p:cNvPr>
          <p:cNvSpPr/>
          <p:nvPr/>
        </p:nvSpPr>
        <p:spPr>
          <a:xfrm>
            <a:off x="2438399" y="2960638"/>
            <a:ext cx="1057269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/>
              <a:t>IV. Question:</a:t>
            </a:r>
            <a:endParaRPr lang="en-PH" sz="4800" dirty="0"/>
          </a:p>
          <a:p>
            <a:br>
              <a:rPr lang="en-US" sz="4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</a:rPr>
              <a:t>1. What are your observations when you pour the water to another container? 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2344607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101396-E635-4CBC-9C74-26F0C0129B89}"/>
              </a:ext>
            </a:extLst>
          </p:cNvPr>
          <p:cNvSpPr/>
          <p:nvPr/>
        </p:nvSpPr>
        <p:spPr>
          <a:xfrm>
            <a:off x="1866900" y="2723347"/>
            <a:ext cx="126111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Decantation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technique used in separating a less-dense substance from a dense one. In the process of decantation, the mixture is left undisturbed. When the components are separated, the less dense substance could be removed by scooping using a spoon or it can be removed by slowly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</a:rPr>
              <a:t>pouring out the less-dense substance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332572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3B771D-6FFC-418E-9722-05F3004AB711}"/>
              </a:ext>
            </a:extLst>
          </p:cNvPr>
          <p:cNvSpPr/>
          <p:nvPr/>
        </p:nvSpPr>
        <p:spPr>
          <a:xfrm>
            <a:off x="2400300" y="1432292"/>
            <a:ext cx="112395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</a:rPr>
              <a:t>Oil in water could be removed using the decantation technique. </a:t>
            </a:r>
            <a:endParaRPr lang="en-PH" sz="4000" dirty="0"/>
          </a:p>
        </p:txBody>
      </p:sp>
      <p:pic>
        <p:nvPicPr>
          <p:cNvPr id="4" name="Picture 3" descr="What Is Decantation? Definition and Examples (Chemistry)">
            <a:extLst>
              <a:ext uri="{FF2B5EF4-FFF2-40B4-BE49-F238E27FC236}">
                <a16:creationId xmlns:a16="http://schemas.microsoft.com/office/drawing/2014/main" id="{DB346416-46FF-4281-A973-3D1418DE9BE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327" y="2908131"/>
            <a:ext cx="6989445" cy="4850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7146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FC1AA3-8E98-4BBA-A145-5451BC829979}"/>
              </a:ext>
            </a:extLst>
          </p:cNvPr>
          <p:cNvSpPr/>
          <p:nvPr/>
        </p:nvSpPr>
        <p:spPr>
          <a:xfrm>
            <a:off x="2209800" y="1529090"/>
            <a:ext cx="120015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fats that float in your sinigang could be</a:t>
            </a:r>
            <a:r>
              <a:rPr lang="en-PH" sz="4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removed by decantation or scooping.</a:t>
            </a:r>
            <a:endParaRPr lang="en-PH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3 Ways to Skim Fat Off Soup - wikiHow">
            <a:extLst>
              <a:ext uri="{FF2B5EF4-FFF2-40B4-BE49-F238E27FC236}">
                <a16:creationId xmlns:a16="http://schemas.microsoft.com/office/drawing/2014/main" id="{6D617687-ED91-4A18-A7EF-12723443B2B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3124201"/>
            <a:ext cx="7429499" cy="46861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9995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B49D0D-825F-4AEB-B3E9-2C9BF5E324FE}"/>
              </a:ext>
            </a:extLst>
          </p:cNvPr>
          <p:cNvSpPr/>
          <p:nvPr/>
        </p:nvSpPr>
        <p:spPr>
          <a:xfrm>
            <a:off x="1837918" y="3573839"/>
            <a:ext cx="1172568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dirty="0">
                <a:latin typeface="Calibri" panose="020F0502020204030204" pitchFamily="34" charset="0"/>
                <a:ea typeface="Calibri" panose="020F0502020204030204" pitchFamily="34" charset="0"/>
              </a:rPr>
              <a:t>Give 3 examples of mixture that can be separated using decantation. </a:t>
            </a:r>
            <a:endParaRPr lang="en-PH" sz="6600" dirty="0"/>
          </a:p>
        </p:txBody>
      </p:sp>
    </p:spTree>
    <p:extLst>
      <p:ext uri="{BB962C8B-B14F-4D97-AF65-F5344CB8AC3E}">
        <p14:creationId xmlns:p14="http://schemas.microsoft.com/office/powerpoint/2010/main" val="4173878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D7FA8D-E4C9-4061-8B54-7A0BA356C70F}"/>
              </a:ext>
            </a:extLst>
          </p:cNvPr>
          <p:cNvSpPr/>
          <p:nvPr/>
        </p:nvSpPr>
        <p:spPr>
          <a:xfrm>
            <a:off x="2095499" y="4174004"/>
            <a:ext cx="1062990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can you apply decantation method in everyday living? </a:t>
            </a:r>
            <a:endParaRPr lang="en-PH" sz="6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182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5F3BA3-AE91-43C8-AEE8-D7EE2BA24923}"/>
              </a:ext>
            </a:extLst>
          </p:cNvPr>
          <p:cNvSpPr/>
          <p:nvPr/>
        </p:nvSpPr>
        <p:spPr>
          <a:xfrm>
            <a:off x="2133600" y="4174004"/>
            <a:ext cx="120946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</a:rPr>
              <a:t>Summarize the lesson by describing the decantation process. </a:t>
            </a:r>
            <a:endParaRPr lang="en-PH" sz="6000" dirty="0"/>
          </a:p>
        </p:txBody>
      </p:sp>
    </p:spTree>
    <p:extLst>
      <p:ext uri="{BB962C8B-B14F-4D97-AF65-F5344CB8AC3E}">
        <p14:creationId xmlns:p14="http://schemas.microsoft.com/office/powerpoint/2010/main" val="3608364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E2933-EFC4-4E6A-BBBC-45FABA0585E1}"/>
              </a:ext>
            </a:extLst>
          </p:cNvPr>
          <p:cNvSpPr/>
          <p:nvPr/>
        </p:nvSpPr>
        <p:spPr>
          <a:xfrm>
            <a:off x="2133600" y="1573768"/>
            <a:ext cx="11887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following sentences. Write 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the statement is</a:t>
            </a:r>
            <a:r>
              <a:rPr lang="en-PH" sz="4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correct and 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  <a:r>
              <a:rPr lang="en-PH" sz="4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it is not. </a:t>
            </a:r>
            <a:endParaRPr lang="en-PH" sz="4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05333-F5E8-4107-8BCB-F80ED4BBCBED}"/>
              </a:ext>
            </a:extLst>
          </p:cNvPr>
          <p:cNvSpPr/>
          <p:nvPr/>
        </p:nvSpPr>
        <p:spPr>
          <a:xfrm>
            <a:off x="2552700" y="3866227"/>
            <a:ext cx="11887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 Decantation is a technique used in separating a less dense</a:t>
            </a:r>
            <a:r>
              <a:rPr lang="en-PH" sz="4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substance from a denser one.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In the process of decantation, the mixture is less disturbed.</a:t>
            </a:r>
            <a:endParaRPr lang="en-PH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508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FF24A-DB0B-45D7-9D2D-C53D842464AF}"/>
              </a:ext>
            </a:extLst>
          </p:cNvPr>
          <p:cNvSpPr/>
          <p:nvPr/>
        </p:nvSpPr>
        <p:spPr>
          <a:xfrm>
            <a:off x="2590800" y="1978610"/>
            <a:ext cx="11049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We used decantation method in separating the fruit salad mixtures.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Oil in water could be removed using the decantation technique.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Decantation is used in removing oil or gasoline from an oil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</a:rPr>
              <a:t>spill.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3362486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D10F53-007D-499D-878E-E834BE138D16}"/>
              </a:ext>
            </a:extLst>
          </p:cNvPr>
          <p:cNvSpPr/>
          <p:nvPr/>
        </p:nvSpPr>
        <p:spPr>
          <a:xfrm>
            <a:off x="2362200" y="4174004"/>
            <a:ext cx="89419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</a:rPr>
              <a:t>Make a simple illustration showing decantation. </a:t>
            </a:r>
            <a:endParaRPr lang="en-PH" sz="6000" dirty="0"/>
          </a:p>
        </p:txBody>
      </p:sp>
    </p:spTree>
    <p:extLst>
      <p:ext uri="{BB962C8B-B14F-4D97-AF65-F5344CB8AC3E}">
        <p14:creationId xmlns:p14="http://schemas.microsoft.com/office/powerpoint/2010/main" val="2598753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3174460" y="2462719"/>
            <a:ext cx="87889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latin typeface="Century Gothic" panose="020B0502020202020204" pitchFamily="34" charset="0"/>
              </a:rPr>
              <a:t>Science 6</a:t>
            </a:r>
            <a:br>
              <a:rPr lang="en-PH" sz="8800" dirty="0">
                <a:latin typeface="Century Gothic" panose="020B0502020202020204" pitchFamily="34" charset="0"/>
              </a:rPr>
            </a:br>
            <a:endParaRPr lang="en-PH" sz="8800" dirty="0">
              <a:latin typeface="Century Gothic" panose="020B0502020202020204" pitchFamily="34" charset="0"/>
            </a:endParaRPr>
          </a:p>
          <a:p>
            <a:pPr algn="ctr"/>
            <a:r>
              <a:rPr lang="en-PH" sz="8800" dirty="0">
                <a:latin typeface="Century Gothic" panose="020B0502020202020204" pitchFamily="34" charset="0"/>
              </a:rPr>
              <a:t>Week 4 – Day 2</a:t>
            </a:r>
          </a:p>
        </p:txBody>
      </p:sp>
    </p:spTree>
    <p:extLst>
      <p:ext uri="{BB962C8B-B14F-4D97-AF65-F5344CB8AC3E}">
        <p14:creationId xmlns:p14="http://schemas.microsoft.com/office/powerpoint/2010/main" val="117683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2450560" y="2157919"/>
            <a:ext cx="116464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200" dirty="0">
                <a:latin typeface="Century Gothic" panose="020B0502020202020204" pitchFamily="34" charset="0"/>
              </a:rPr>
              <a:t>Objectives:</a:t>
            </a:r>
            <a:br>
              <a:rPr lang="en-PH" sz="4000" dirty="0">
                <a:latin typeface="Century Gothic" panose="020B0502020202020204" pitchFamily="34" charset="0"/>
              </a:rPr>
            </a:br>
            <a:br>
              <a:rPr lang="en-PH" sz="4800" dirty="0">
                <a:latin typeface="Century Gothic" panose="020B0502020202020204" pitchFamily="34" charset="0"/>
              </a:rPr>
            </a:br>
            <a:r>
              <a:rPr lang="en-US" sz="4800" dirty="0">
                <a:latin typeface="Century Gothic" panose="020B0502020202020204" pitchFamily="34" charset="0"/>
              </a:rPr>
              <a:t>Describe techniques in separating mixtures such as decantation, evaporation, filtering, sieving and using magnet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en-PH" sz="5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312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2107660" y="2919919"/>
            <a:ext cx="116464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latin typeface="Century Gothic" panose="020B0502020202020204" pitchFamily="34" charset="0"/>
              </a:rPr>
              <a:t>Separating mixtures through Decantation</a:t>
            </a:r>
          </a:p>
        </p:txBody>
      </p:sp>
    </p:spTree>
    <p:extLst>
      <p:ext uri="{BB962C8B-B14F-4D97-AF65-F5344CB8AC3E}">
        <p14:creationId xmlns:p14="http://schemas.microsoft.com/office/powerpoint/2010/main" val="151451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BA8A78-7F5A-4799-B65A-1DF062D7BD0C}"/>
              </a:ext>
            </a:extLst>
          </p:cNvPr>
          <p:cNvSpPr/>
          <p:nvPr/>
        </p:nvSpPr>
        <p:spPr>
          <a:xfrm>
            <a:off x="2396563" y="4543335"/>
            <a:ext cx="1060418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</a:rPr>
              <a:t>What again is decantation? 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397674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68F736-5995-4BF8-8975-7857E0720D1E}"/>
              </a:ext>
            </a:extLst>
          </p:cNvPr>
          <p:cNvSpPr/>
          <p:nvPr/>
        </p:nvSpPr>
        <p:spPr>
          <a:xfrm>
            <a:off x="1905000" y="1414790"/>
            <a:ext cx="13258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oil spill is one of the environmental problems that occur in the bodies of water. How can decantation be useful in this kind of situation. </a:t>
            </a:r>
            <a:endParaRPr lang="en-PH" sz="4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Oil Spill Cleanup Secrets of Gulf Coast Bacteria - Science Connected  Magazine">
            <a:extLst>
              <a:ext uri="{FF2B5EF4-FFF2-40B4-BE49-F238E27FC236}">
                <a16:creationId xmlns:a16="http://schemas.microsoft.com/office/drawing/2014/main" id="{7A267468-B5BB-48AA-9721-2E2A9595B49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254" y="3723114"/>
            <a:ext cx="7332346" cy="3814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0340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21F791-347B-44B8-9795-13D372E89DAC}"/>
              </a:ext>
            </a:extLst>
          </p:cNvPr>
          <p:cNvSpPr/>
          <p:nvPr/>
        </p:nvSpPr>
        <p:spPr>
          <a:xfrm>
            <a:off x="1866900" y="4266337"/>
            <a:ext cx="116205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</a:rPr>
              <a:t>For today, we will learn how decantation can be beneficial in our community. </a:t>
            </a:r>
            <a:endParaRPr lang="en-PH" sz="5400" dirty="0"/>
          </a:p>
        </p:txBody>
      </p:sp>
    </p:spTree>
    <p:extLst>
      <p:ext uri="{BB962C8B-B14F-4D97-AF65-F5344CB8AC3E}">
        <p14:creationId xmlns:p14="http://schemas.microsoft.com/office/powerpoint/2010/main" val="3118904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1633B5-CEB9-4853-9E66-F494D70DA018}"/>
              </a:ext>
            </a:extLst>
          </p:cNvPr>
          <p:cNvSpPr/>
          <p:nvPr/>
        </p:nvSpPr>
        <p:spPr>
          <a:xfrm>
            <a:off x="2133600" y="3066008"/>
            <a:ext cx="98679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The class will be divided into 5 groups.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Each group need to prepare a situation in their community that shows the application of decantation. 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</a:rPr>
              <a:t>3. A member will explain how decantation can be beneficial</a:t>
            </a:r>
            <a:endParaRPr lang="en-PH" sz="4400" dirty="0"/>
          </a:p>
        </p:txBody>
      </p:sp>
    </p:spTree>
    <p:extLst>
      <p:ext uri="{BB962C8B-B14F-4D97-AF65-F5344CB8AC3E}">
        <p14:creationId xmlns:p14="http://schemas.microsoft.com/office/powerpoint/2010/main" val="2207328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AEEE5A-6D60-4680-8469-A0BBAECC77FF}"/>
              </a:ext>
            </a:extLst>
          </p:cNvPr>
          <p:cNvSpPr/>
          <p:nvPr/>
        </p:nvSpPr>
        <p:spPr>
          <a:xfrm>
            <a:off x="1888324" y="4358670"/>
            <a:ext cx="1218474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of output. </a:t>
            </a:r>
            <a:endParaRPr lang="en-PH" sz="9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334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D360F9-EF24-4995-925D-4849723C94F8}"/>
              </a:ext>
            </a:extLst>
          </p:cNvPr>
          <p:cNvSpPr/>
          <p:nvPr/>
        </p:nvSpPr>
        <p:spPr>
          <a:xfrm>
            <a:off x="1790700" y="1425862"/>
            <a:ext cx="12763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Study the following mixtures. Tell whether they can be separated through decantation methods. Write YES or NO on your paper. </a:t>
            </a:r>
            <a:endParaRPr lang="en-PH" sz="4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D91255-C414-4D31-AE56-B6306B5CED9C}"/>
              </a:ext>
            </a:extLst>
          </p:cNvPr>
          <p:cNvSpPr/>
          <p:nvPr/>
        </p:nvSpPr>
        <p:spPr>
          <a:xfrm>
            <a:off x="2324100" y="4058334"/>
            <a:ext cx="70866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gasoline in water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arroz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caldo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soup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spaghetti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sinigang with floating fats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ice cream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A14FC-C131-423F-9FF1-9F3A6F831E4D}"/>
              </a:ext>
            </a:extLst>
          </p:cNvPr>
          <p:cNvSpPr/>
          <p:nvPr/>
        </p:nvSpPr>
        <p:spPr>
          <a:xfrm>
            <a:off x="9277350" y="4058333"/>
            <a:ext cx="581025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fruit salad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oil in water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lugaw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batchoy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tinolang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manok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123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3218FC-0976-45AB-A69D-29BB8599AD9A}"/>
              </a:ext>
            </a:extLst>
          </p:cNvPr>
          <p:cNvSpPr/>
          <p:nvPr/>
        </p:nvSpPr>
        <p:spPr>
          <a:xfrm>
            <a:off x="2133600" y="4081671"/>
            <a:ext cx="1114597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dirty="0">
                <a:latin typeface="Calibri" panose="020F0502020204030204" pitchFamily="34" charset="0"/>
                <a:ea typeface="Calibri" panose="020F0502020204030204" pitchFamily="34" charset="0"/>
              </a:rPr>
              <a:t>What chores at home decantation can be applied? </a:t>
            </a:r>
            <a:endParaRPr lang="en-PH" sz="6600" dirty="0"/>
          </a:p>
        </p:txBody>
      </p:sp>
    </p:spTree>
    <p:extLst>
      <p:ext uri="{BB962C8B-B14F-4D97-AF65-F5344CB8AC3E}">
        <p14:creationId xmlns:p14="http://schemas.microsoft.com/office/powerpoint/2010/main" val="3182038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9852AF-9454-4136-8A06-6CD1B8A3E93F}"/>
              </a:ext>
            </a:extLst>
          </p:cNvPr>
          <p:cNvSpPr/>
          <p:nvPr/>
        </p:nvSpPr>
        <p:spPr>
          <a:xfrm>
            <a:off x="2400300" y="1372850"/>
            <a:ext cx="105537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the paragraph by supplying the missing word</a:t>
            </a:r>
            <a:r>
              <a:rPr lang="en-PH" sz="4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blank. </a:t>
            </a:r>
            <a:endParaRPr lang="en-PH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1BDA7-EA82-4631-BBA1-D8EF0B45CC46}"/>
              </a:ext>
            </a:extLst>
          </p:cNvPr>
          <p:cNvSpPr/>
          <p:nvPr/>
        </p:nvSpPr>
        <p:spPr>
          <a:xfrm>
            <a:off x="2400300" y="3281839"/>
            <a:ext cx="11811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learned that…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Decantation is a technique used in separating ______________ from a ______________. In the process of ______________, </a:t>
            </a:r>
            <a:r>
              <a:rPr lang="en-PH" sz="4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mixtures is</a:t>
            </a:r>
            <a:r>
              <a:rPr lang="en-PH" sz="4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 undisturbed. When the ______________</a:t>
            </a:r>
            <a:r>
              <a:rPr lang="en-PH" sz="4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less dense substance</a:t>
            </a:r>
            <a:r>
              <a:rPr lang="en-PH" sz="4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</a:rPr>
              <a:t>could be removed by scooping using a spoon or it can be removed by slowly ____________. 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1053971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704D07-C594-406F-AF59-C50EFDE4E5FF}"/>
              </a:ext>
            </a:extLst>
          </p:cNvPr>
          <p:cNvSpPr/>
          <p:nvPr/>
        </p:nvSpPr>
        <p:spPr>
          <a:xfrm>
            <a:off x="2514600" y="1332012"/>
            <a:ext cx="11353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following questions. Write the letter of the correct answer. </a:t>
            </a:r>
            <a:endParaRPr lang="en-PH" sz="4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88E27-2BD2-4516-A5EB-65F0B687A2BB}"/>
              </a:ext>
            </a:extLst>
          </p:cNvPr>
          <p:cNvSpPr/>
          <p:nvPr/>
        </p:nvSpPr>
        <p:spPr>
          <a:xfrm>
            <a:off x="2971800" y="3558450"/>
            <a:ext cx="10896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What method is used to separate a less dense substance from a denser one?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Decantation 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Evaporation 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Filtration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761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C9C000-1426-44B4-9377-497C21E2EABF}"/>
              </a:ext>
            </a:extLst>
          </p:cNvPr>
          <p:cNvSpPr/>
          <p:nvPr/>
        </p:nvSpPr>
        <p:spPr>
          <a:xfrm>
            <a:off x="2057400" y="1873121"/>
            <a:ext cx="126111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Which mixture can be separated through decantation?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Mixed nuts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Sugar and salt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Water and oil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What will happen to mud when you mix it with water?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It will float.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It will evaporate. 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It will sink. </a:t>
            </a:r>
            <a:endParaRPr lang="en-PH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862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1143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00443B-2DE7-41A7-8D02-D0782AF10ABD}"/>
              </a:ext>
            </a:extLst>
          </p:cNvPr>
          <p:cNvSpPr/>
          <p:nvPr/>
        </p:nvSpPr>
        <p:spPr>
          <a:xfrm>
            <a:off x="1752600" y="1603444"/>
            <a:ext cx="127635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In the process of decantation, the mixture is left _______.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behind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removed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Undisturbed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What method is used to clean rice grains before cooking it?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decantation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picking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</a:rPr>
              <a:t>C. filtration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3926641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6D8070-4737-4302-91B0-105F5C15FC24}"/>
              </a:ext>
            </a:extLst>
          </p:cNvPr>
          <p:cNvSpPr/>
          <p:nvPr/>
        </p:nvSpPr>
        <p:spPr>
          <a:xfrm>
            <a:off x="2209800" y="3435340"/>
            <a:ext cx="11239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</a:rPr>
              <a:t>In a grade 6 science class a group of students would like to separate salt from water. What method they will use to separate the mixture? </a:t>
            </a:r>
            <a:endParaRPr lang="en-PH" sz="5400" dirty="0"/>
          </a:p>
        </p:txBody>
      </p:sp>
    </p:spTree>
    <p:extLst>
      <p:ext uri="{BB962C8B-B14F-4D97-AF65-F5344CB8AC3E}">
        <p14:creationId xmlns:p14="http://schemas.microsoft.com/office/powerpoint/2010/main" val="2194923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3174460" y="2462719"/>
            <a:ext cx="87889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latin typeface="Century Gothic" panose="020B0502020202020204" pitchFamily="34" charset="0"/>
              </a:rPr>
              <a:t>Science 6</a:t>
            </a:r>
            <a:br>
              <a:rPr lang="en-PH" sz="8800" dirty="0">
                <a:latin typeface="Century Gothic" panose="020B0502020202020204" pitchFamily="34" charset="0"/>
              </a:rPr>
            </a:br>
            <a:endParaRPr lang="en-PH" sz="8800" dirty="0">
              <a:latin typeface="Century Gothic" panose="020B0502020202020204" pitchFamily="34" charset="0"/>
            </a:endParaRPr>
          </a:p>
          <a:p>
            <a:pPr algn="ctr"/>
            <a:r>
              <a:rPr lang="en-PH" sz="8800" dirty="0">
                <a:latin typeface="Century Gothic" panose="020B0502020202020204" pitchFamily="34" charset="0"/>
              </a:rPr>
              <a:t>Week 4 – Day 3</a:t>
            </a:r>
          </a:p>
        </p:txBody>
      </p:sp>
    </p:spTree>
    <p:extLst>
      <p:ext uri="{BB962C8B-B14F-4D97-AF65-F5344CB8AC3E}">
        <p14:creationId xmlns:p14="http://schemas.microsoft.com/office/powerpoint/2010/main" val="25038599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2450560" y="2157919"/>
            <a:ext cx="116464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200" dirty="0">
                <a:latin typeface="Century Gothic" panose="020B0502020202020204" pitchFamily="34" charset="0"/>
              </a:rPr>
              <a:t>Objectives:</a:t>
            </a:r>
            <a:br>
              <a:rPr lang="en-PH" sz="4000" dirty="0">
                <a:latin typeface="Century Gothic" panose="020B0502020202020204" pitchFamily="34" charset="0"/>
              </a:rPr>
            </a:br>
            <a:br>
              <a:rPr lang="en-PH" sz="4800" dirty="0">
                <a:latin typeface="Century Gothic" panose="020B0502020202020204" pitchFamily="34" charset="0"/>
              </a:rPr>
            </a:br>
            <a:r>
              <a:rPr lang="en-US" sz="4800" dirty="0">
                <a:latin typeface="Century Gothic" panose="020B0502020202020204" pitchFamily="34" charset="0"/>
              </a:rPr>
              <a:t>Describe techniques in separating mixtures such as decantation, evaporation, filtering, sieving and using magnet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en-PH" sz="5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537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2107660" y="2919919"/>
            <a:ext cx="116464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latin typeface="Century Gothic" panose="020B0502020202020204" pitchFamily="34" charset="0"/>
              </a:rPr>
              <a:t>Separating mixtures through Evaporation</a:t>
            </a:r>
          </a:p>
        </p:txBody>
      </p:sp>
    </p:spTree>
    <p:extLst>
      <p:ext uri="{BB962C8B-B14F-4D97-AF65-F5344CB8AC3E}">
        <p14:creationId xmlns:p14="http://schemas.microsoft.com/office/powerpoint/2010/main" val="8293205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205493-252D-40C2-80BD-B1B93A4B0989}"/>
              </a:ext>
            </a:extLst>
          </p:cNvPr>
          <p:cNvSpPr/>
          <p:nvPr/>
        </p:nvSpPr>
        <p:spPr>
          <a:xfrm>
            <a:off x="2171700" y="3293239"/>
            <a:ext cx="1210928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your homework, what method will you use to separate salt from water? Explain your answer. </a:t>
            </a:r>
            <a:endParaRPr lang="en-PH" sz="6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765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42466-521E-492F-9C5D-C4C93616D03E}"/>
              </a:ext>
            </a:extLst>
          </p:cNvPr>
          <p:cNvSpPr/>
          <p:nvPr/>
        </p:nvSpPr>
        <p:spPr>
          <a:xfrm>
            <a:off x="2688539" y="1179612"/>
            <a:ext cx="869019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 the picture below. </a:t>
            </a:r>
            <a:endParaRPr lang="en-PH" sz="6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NATURE'S TURN: Solar power direct: low-carbon-footprint food, sun-dried  clothes - The Berkshire Edge">
            <a:extLst>
              <a:ext uri="{FF2B5EF4-FFF2-40B4-BE49-F238E27FC236}">
                <a16:creationId xmlns:a16="http://schemas.microsoft.com/office/drawing/2014/main" id="{40A44911-95A9-40DE-B7C1-9EF0AFD021E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309575"/>
            <a:ext cx="8690199" cy="5158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1628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12B15D-94A8-4F47-98CD-1DC283A16F45}"/>
              </a:ext>
            </a:extLst>
          </p:cNvPr>
          <p:cNvSpPr/>
          <p:nvPr/>
        </p:nvSpPr>
        <p:spPr>
          <a:xfrm>
            <a:off x="1866900" y="2640568"/>
            <a:ext cx="1371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Ask the following questions:</a:t>
            </a:r>
            <a:b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What is happening in the picture?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What is the main purpose of evaporation as a process in the preparation of this activity?</a:t>
            </a:r>
            <a:endParaRPr lang="en-PH" sz="4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184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5B3D8E-B488-4847-8B3E-504606901AE5}"/>
              </a:ext>
            </a:extLst>
          </p:cNvPr>
          <p:cNvSpPr/>
          <p:nvPr/>
        </p:nvSpPr>
        <p:spPr>
          <a:xfrm>
            <a:off x="2095500" y="1790581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The class will be divided into 3 groups. 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Each group will choose a leader and a reporter.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Each group will be given an activity sheet.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The activity card serves as your guide on the activity that you are going to perform.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All the members in the group must work as a team.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After the activity write the results of your activity on the activity sheet.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The leader will present the results/findings.</a:t>
            </a:r>
            <a:endParaRPr lang="en-PH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190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A08C49-7758-4FD1-8BC0-D2411F0D2AD3}"/>
              </a:ext>
            </a:extLst>
          </p:cNvPr>
          <p:cNvSpPr/>
          <p:nvPr/>
        </p:nvSpPr>
        <p:spPr>
          <a:xfrm>
            <a:off x="2324100" y="1364903"/>
            <a:ext cx="11430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Activity 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 Evaporate: Let’s evaporate!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II. Materials: pinch of salt, alcohol lamp/hot plate or gas burner, water spoon, pan 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Caution: 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 sure to avoid contact with the hot plate/gas burner or the pan when hot to avoid getting burned. </a:t>
            </a:r>
            <a:endParaRPr lang="en-PH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0284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F12945-240C-469C-8825-066397E007F0}"/>
              </a:ext>
            </a:extLst>
          </p:cNvPr>
          <p:cNvSpPr/>
          <p:nvPr/>
        </p:nvSpPr>
        <p:spPr>
          <a:xfrm>
            <a:off x="1943100" y="2494747"/>
            <a:ext cx="11430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Procedures: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Put 1 spoon of salt in a pan with 1 glass of water. 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Stir the solution and cover once done. 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Place pan at the gas burner and let it boil until no water is left in the pan. </a:t>
            </a:r>
            <a:endParaRPr lang="en-PH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6584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C61A40-6393-455A-9480-38E125354A23}"/>
              </a:ext>
            </a:extLst>
          </p:cNvPr>
          <p:cNvSpPr/>
          <p:nvPr/>
        </p:nvSpPr>
        <p:spPr>
          <a:xfrm>
            <a:off x="1981200" y="3472190"/>
            <a:ext cx="12268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IV. Question:</a:t>
            </a:r>
            <a:endParaRPr lang="en-PH" sz="5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</a:rPr>
              <a:t>1. What happens to the salt solution after the water evaporated? </a:t>
            </a:r>
            <a:endParaRPr lang="en-PH" sz="5400" dirty="0"/>
          </a:p>
        </p:txBody>
      </p:sp>
    </p:spTree>
    <p:extLst>
      <p:ext uri="{BB962C8B-B14F-4D97-AF65-F5344CB8AC3E}">
        <p14:creationId xmlns:p14="http://schemas.microsoft.com/office/powerpoint/2010/main" val="38236226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621C39-DBAD-4FD9-9146-FC429F3E15FF}"/>
              </a:ext>
            </a:extLst>
          </p:cNvPr>
          <p:cNvSpPr/>
          <p:nvPr/>
        </p:nvSpPr>
        <p:spPr>
          <a:xfrm>
            <a:off x="2019300" y="3435340"/>
            <a:ext cx="11658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Evaporation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process of separating mixtures which involves heating the solution until the solvent evaporates leaving behind the solid residue. </a:t>
            </a:r>
            <a:endParaRPr lang="en-PH" sz="5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491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23018-8B97-4EDE-8921-64B7D1E06ADB}"/>
              </a:ext>
            </a:extLst>
          </p:cNvPr>
          <p:cNvSpPr/>
          <p:nvPr/>
        </p:nvSpPr>
        <p:spPr>
          <a:xfrm>
            <a:off x="2209800" y="1154668"/>
            <a:ext cx="123444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Heat being the main component in this process separates the mixtures of solid from a liquid. As</a:t>
            </a:r>
            <a:r>
              <a:rPr lang="en-PH" sz="4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liquid goes in the air in a form of gas when heated, changing liquid to gas as an example of physical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change.</a:t>
            </a:r>
            <a:endParaRPr lang="en-PH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eparation by Evaporation - GeeksforGeeks">
            <a:extLst>
              <a:ext uri="{FF2B5EF4-FFF2-40B4-BE49-F238E27FC236}">
                <a16:creationId xmlns:a16="http://schemas.microsoft.com/office/drawing/2014/main" id="{0AA078F3-F0E4-499F-8AD5-FD62C75F9FA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4399954"/>
            <a:ext cx="8534400" cy="347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1613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5D773B-F0EE-4202-B0A7-76B46690ADC4}"/>
              </a:ext>
            </a:extLst>
          </p:cNvPr>
          <p:cNvSpPr/>
          <p:nvPr/>
        </p:nvSpPr>
        <p:spPr>
          <a:xfrm>
            <a:off x="2286000" y="1484413"/>
            <a:ext cx="118490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examples of evaporation are boiling water, drying clothes, and drying of wet roads after heavy.</a:t>
            </a:r>
            <a:endParaRPr lang="en-PH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Boiled Water vs. Filtered Water | Aquasana">
            <a:extLst>
              <a:ext uri="{FF2B5EF4-FFF2-40B4-BE49-F238E27FC236}">
                <a16:creationId xmlns:a16="http://schemas.microsoft.com/office/drawing/2014/main" id="{7D086893-0506-444E-806C-71CECF687FA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49" y="2807852"/>
            <a:ext cx="37719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Top Tips For Line-Drying Clothes The Right Way - Farmers' Almanac - Plan  Your Day. Grow Your Life.">
            <a:extLst>
              <a:ext uri="{FF2B5EF4-FFF2-40B4-BE49-F238E27FC236}">
                <a16:creationId xmlns:a16="http://schemas.microsoft.com/office/drawing/2014/main" id="{42BB0117-18DE-428E-8AD5-D128628D41CB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649" y="4292265"/>
            <a:ext cx="40767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VERIFY: Are roads really more slippery directly after it rains? | king5.com">
            <a:extLst>
              <a:ext uri="{FF2B5EF4-FFF2-40B4-BE49-F238E27FC236}">
                <a16:creationId xmlns:a16="http://schemas.microsoft.com/office/drawing/2014/main" id="{CD6EB4A9-C73B-481A-9ABE-D36CC9E117E7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404" y="3042226"/>
            <a:ext cx="4434840" cy="350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407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17F37-E0A4-4519-AAF9-3FA2DE20E046}"/>
              </a:ext>
            </a:extLst>
          </p:cNvPr>
          <p:cNvSpPr/>
          <p:nvPr/>
        </p:nvSpPr>
        <p:spPr>
          <a:xfrm>
            <a:off x="1981199" y="4174004"/>
            <a:ext cx="1226820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Illustrate a situation where evaporation process was observed.</a:t>
            </a:r>
            <a:endParaRPr lang="en-PH" sz="6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758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325285-D446-412B-801B-B929EC219ADB}"/>
              </a:ext>
            </a:extLst>
          </p:cNvPr>
          <p:cNvSpPr/>
          <p:nvPr/>
        </p:nvSpPr>
        <p:spPr>
          <a:xfrm>
            <a:off x="2019300" y="3712339"/>
            <a:ext cx="12077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</a:rPr>
              <a:t>What chores at home evaporation can be applied? </a:t>
            </a:r>
            <a:endParaRPr lang="en-PH" sz="6000" dirty="0"/>
          </a:p>
        </p:txBody>
      </p:sp>
    </p:spTree>
    <p:extLst>
      <p:ext uri="{BB962C8B-B14F-4D97-AF65-F5344CB8AC3E}">
        <p14:creationId xmlns:p14="http://schemas.microsoft.com/office/powerpoint/2010/main" val="40069805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5D67EB-B094-4B02-A0CC-CEF52E6383D1}"/>
              </a:ext>
            </a:extLst>
          </p:cNvPr>
          <p:cNvSpPr/>
          <p:nvPr/>
        </p:nvSpPr>
        <p:spPr>
          <a:xfrm>
            <a:off x="2417087" y="1179612"/>
            <a:ext cx="87334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the following ideas. </a:t>
            </a:r>
            <a:endParaRPr lang="en-PH" sz="5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11E2AD-40C4-4B6F-8D55-29B744F18BFB}"/>
              </a:ext>
            </a:extLst>
          </p:cNvPr>
          <p:cNvSpPr/>
          <p:nvPr/>
        </p:nvSpPr>
        <p:spPr>
          <a:xfrm>
            <a:off x="2819400" y="2685247"/>
            <a:ext cx="119253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learned that…</a:t>
            </a:r>
            <a:endParaRPr lang="en-PH" sz="5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Evaporation is a process of separating mixtures which involves ____________</a:t>
            </a:r>
            <a:endParaRPr lang="en-PH" sz="5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until the solvent _____________</a:t>
            </a:r>
            <a:endParaRPr lang="en-PH" sz="5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</a:rPr>
              <a:t>leaving behind the ___________</a:t>
            </a:r>
            <a:endParaRPr lang="en-PH" sz="5400" dirty="0"/>
          </a:p>
        </p:txBody>
      </p:sp>
    </p:spTree>
    <p:extLst>
      <p:ext uri="{BB962C8B-B14F-4D97-AF65-F5344CB8AC3E}">
        <p14:creationId xmlns:p14="http://schemas.microsoft.com/office/powerpoint/2010/main" val="15671108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A8A753-AA86-4D75-B0D7-42898ABAB69C}"/>
              </a:ext>
            </a:extLst>
          </p:cNvPr>
          <p:cNvSpPr/>
          <p:nvPr/>
        </p:nvSpPr>
        <p:spPr>
          <a:xfrm>
            <a:off x="2165103" y="1332012"/>
            <a:ext cx="109031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following questions. Write the letter of the correct answer. </a:t>
            </a:r>
            <a:endParaRPr lang="en-PH" sz="4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BE537-98C0-41FE-8F53-95E272F78037}"/>
              </a:ext>
            </a:extLst>
          </p:cNvPr>
          <p:cNvSpPr/>
          <p:nvPr/>
        </p:nvSpPr>
        <p:spPr>
          <a:xfrm>
            <a:off x="2705100" y="3230345"/>
            <a:ext cx="11201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What method is used to obtain salt from sea water?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decantation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sedimentation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evaporation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filtering</a:t>
            </a:r>
            <a:endParaRPr lang="en-PH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8426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7571C7-7DBF-414D-929A-C1EAD2AA70A5}"/>
              </a:ext>
            </a:extLst>
          </p:cNvPr>
          <p:cNvSpPr/>
          <p:nvPr/>
        </p:nvSpPr>
        <p:spPr>
          <a:xfrm>
            <a:off x="2019300" y="2768025"/>
            <a:ext cx="113919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Which of the following examples undergo evaporation process?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a pail of water under the heat of the sun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brushing your teeth after meal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ironing clothes every weekend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listening to the radio</a:t>
            </a:r>
            <a:endParaRPr lang="en-PH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7675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C1A4F5-18AA-4976-A385-B17A16E04750}"/>
              </a:ext>
            </a:extLst>
          </p:cNvPr>
          <p:cNvSpPr/>
          <p:nvPr/>
        </p:nvSpPr>
        <p:spPr>
          <a:xfrm>
            <a:off x="2095500" y="3066008"/>
            <a:ext cx="11506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It is the main factor that causes evaporation process in separating</a:t>
            </a:r>
            <a:r>
              <a:rPr lang="en-PH" sz="4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mixtures.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water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heat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smoke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light</a:t>
            </a:r>
            <a:endParaRPr lang="en-PH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4904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3FDD53-FA7D-4366-BB99-C61442F822C2}"/>
              </a:ext>
            </a:extLst>
          </p:cNvPr>
          <p:cNvSpPr/>
          <p:nvPr/>
        </p:nvSpPr>
        <p:spPr>
          <a:xfrm>
            <a:off x="2095500" y="1600081"/>
            <a:ext cx="122301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Princess accidentally spill a glass of water in the salt container and she is</a:t>
            </a:r>
            <a:r>
              <a:rPr lang="en-PH" sz="4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thinking with of a solution on how she's going to recover salt from water,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will Princess do to return the salt to its original phase?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She will wrap it with newspaper tightly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She will throw it away in the waste can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She will hide it in a dark corner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She will boil the solution</a:t>
            </a:r>
            <a:endParaRPr lang="en-PH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935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8729AA-3CE9-48CA-B7AD-D878C6AD8B5E}"/>
              </a:ext>
            </a:extLst>
          </p:cNvPr>
          <p:cNvSpPr/>
          <p:nvPr/>
        </p:nvSpPr>
        <p:spPr>
          <a:xfrm>
            <a:off x="1752600" y="1600081"/>
            <a:ext cx="124968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While boiling water in a kettle,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Gwayne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noticed that there are smoke coming from the spout of a kettle. He asked his mother, "Why did the</a:t>
            </a:r>
            <a:r>
              <a:rPr lang="en-PH" sz="4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smoke rise upward"? What do think will be the mother's answer?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because the water reached its cooling point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because the water reached its boiling point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because the water is heated and became water vapor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</a:rPr>
              <a:t>d. because the water is freezing</a:t>
            </a:r>
            <a:endParaRPr lang="en-PH" sz="4400" dirty="0"/>
          </a:p>
        </p:txBody>
      </p:sp>
    </p:spTree>
    <p:extLst>
      <p:ext uri="{BB962C8B-B14F-4D97-AF65-F5344CB8AC3E}">
        <p14:creationId xmlns:p14="http://schemas.microsoft.com/office/powerpoint/2010/main" val="19599297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47B3-8D73-4F63-9889-B37FA95532D4}"/>
              </a:ext>
            </a:extLst>
          </p:cNvPr>
          <p:cNvSpPr/>
          <p:nvPr/>
        </p:nvSpPr>
        <p:spPr>
          <a:xfrm>
            <a:off x="2171700" y="1141512"/>
            <a:ext cx="12077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Direction: Put a </a:t>
            </a:r>
            <a:r>
              <a:rPr lang="en-US" sz="5400" dirty="0"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✓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before the number if the technique used is and X if not.</a:t>
            </a:r>
            <a:endParaRPr lang="en-PH" sz="5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6FE02-7973-4D84-96FA-5D8F0FE99B55}"/>
              </a:ext>
            </a:extLst>
          </p:cNvPr>
          <p:cNvSpPr/>
          <p:nvPr/>
        </p:nvSpPr>
        <p:spPr>
          <a:xfrm>
            <a:off x="4000500" y="3404562"/>
            <a:ext cx="96774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water cycle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using cell phone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pulling a chair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drying of hair using hair dryer</a:t>
            </a:r>
            <a:endParaRPr lang="en-PH" sz="4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</a:rPr>
              <a:t>5. boiling camote</a:t>
            </a:r>
            <a:endParaRPr lang="en-PH" sz="4400" dirty="0"/>
          </a:p>
        </p:txBody>
      </p:sp>
    </p:spTree>
    <p:extLst>
      <p:ext uri="{BB962C8B-B14F-4D97-AF65-F5344CB8AC3E}">
        <p14:creationId xmlns:p14="http://schemas.microsoft.com/office/powerpoint/2010/main" val="28225032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3174460" y="2462719"/>
            <a:ext cx="87889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latin typeface="Century Gothic" panose="020B0502020202020204" pitchFamily="34" charset="0"/>
              </a:rPr>
              <a:t>Science 6</a:t>
            </a:r>
            <a:br>
              <a:rPr lang="en-PH" sz="8800" dirty="0">
                <a:latin typeface="Century Gothic" panose="020B0502020202020204" pitchFamily="34" charset="0"/>
              </a:rPr>
            </a:br>
            <a:endParaRPr lang="en-PH" sz="8800" dirty="0">
              <a:latin typeface="Century Gothic" panose="020B0502020202020204" pitchFamily="34" charset="0"/>
            </a:endParaRPr>
          </a:p>
          <a:p>
            <a:pPr algn="ctr"/>
            <a:r>
              <a:rPr lang="en-PH" sz="8800" dirty="0">
                <a:latin typeface="Century Gothic" panose="020B0502020202020204" pitchFamily="34" charset="0"/>
              </a:rPr>
              <a:t>Week 4 – Day 4</a:t>
            </a:r>
          </a:p>
        </p:txBody>
      </p:sp>
    </p:spTree>
    <p:extLst>
      <p:ext uri="{BB962C8B-B14F-4D97-AF65-F5344CB8AC3E}">
        <p14:creationId xmlns:p14="http://schemas.microsoft.com/office/powerpoint/2010/main" val="13465557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2450560" y="2157919"/>
            <a:ext cx="116464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200" dirty="0">
                <a:latin typeface="Century Gothic" panose="020B0502020202020204" pitchFamily="34" charset="0"/>
              </a:rPr>
              <a:t>Objectives:</a:t>
            </a:r>
            <a:br>
              <a:rPr lang="en-PH" sz="4000" dirty="0">
                <a:latin typeface="Century Gothic" panose="020B0502020202020204" pitchFamily="34" charset="0"/>
              </a:rPr>
            </a:br>
            <a:br>
              <a:rPr lang="en-PH" sz="4800" dirty="0">
                <a:latin typeface="Century Gothic" panose="020B0502020202020204" pitchFamily="34" charset="0"/>
              </a:rPr>
            </a:br>
            <a:r>
              <a:rPr lang="en-US" sz="4800" dirty="0">
                <a:latin typeface="Century Gothic" panose="020B0502020202020204" pitchFamily="34" charset="0"/>
              </a:rPr>
              <a:t>Describe techniques in separating mixtures such as decantation, evaporation, filtering, sieving and using magnet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en-PH" sz="5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8075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2107660" y="2919919"/>
            <a:ext cx="116464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latin typeface="Century Gothic" panose="020B0502020202020204" pitchFamily="34" charset="0"/>
              </a:rPr>
              <a:t>Separating mixtures through Evaporation</a:t>
            </a:r>
          </a:p>
        </p:txBody>
      </p:sp>
    </p:spTree>
    <p:extLst>
      <p:ext uri="{BB962C8B-B14F-4D97-AF65-F5344CB8AC3E}">
        <p14:creationId xmlns:p14="http://schemas.microsoft.com/office/powerpoint/2010/main" val="23343586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022AF4-8807-4A42-B0C6-428AB9D5A1DE}"/>
              </a:ext>
            </a:extLst>
          </p:cNvPr>
          <p:cNvSpPr/>
          <p:nvPr/>
        </p:nvSpPr>
        <p:spPr>
          <a:xfrm>
            <a:off x="1898371" y="3820061"/>
            <a:ext cx="10509608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</a:rPr>
              <a:t>Checking of assignment. </a:t>
            </a:r>
            <a:endParaRPr lang="en-PH" sz="8000" dirty="0"/>
          </a:p>
        </p:txBody>
      </p:sp>
    </p:spTree>
    <p:extLst>
      <p:ext uri="{BB962C8B-B14F-4D97-AF65-F5344CB8AC3E}">
        <p14:creationId xmlns:p14="http://schemas.microsoft.com/office/powerpoint/2010/main" val="16678046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405B3C-7FEC-4A62-9336-66BC8F6FC01B}"/>
              </a:ext>
            </a:extLst>
          </p:cNvPr>
          <p:cNvSpPr/>
          <p:nvPr/>
        </p:nvSpPr>
        <p:spPr>
          <a:xfrm>
            <a:off x="2171699" y="1409700"/>
            <a:ext cx="1270340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among you eat dried fish (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tuyo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)? How do you think dried fish was processed? </a:t>
            </a:r>
            <a:endParaRPr lang="en-PH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Good weather for pickling, drying fish in China's Jiangxi - Xinhua |  English.news.cn">
            <a:extLst>
              <a:ext uri="{FF2B5EF4-FFF2-40B4-BE49-F238E27FC236}">
                <a16:creationId xmlns:a16="http://schemas.microsoft.com/office/drawing/2014/main" id="{049EE320-2C60-419D-B38D-B5ED91EE889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653" y="2856250"/>
            <a:ext cx="7504748" cy="461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27423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CB156A-0057-4B53-B72F-A30D1F7E2913}"/>
              </a:ext>
            </a:extLst>
          </p:cNvPr>
          <p:cNvSpPr/>
          <p:nvPr/>
        </p:nvSpPr>
        <p:spPr>
          <a:xfrm>
            <a:off x="1981200" y="3154740"/>
            <a:ext cx="1156433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</a:rPr>
              <a:t>For today, we will learn how evaporation can be beneficial in our community. </a:t>
            </a:r>
            <a:endParaRPr lang="en-PH" sz="6000" dirty="0"/>
          </a:p>
        </p:txBody>
      </p:sp>
    </p:spTree>
    <p:extLst>
      <p:ext uri="{BB962C8B-B14F-4D97-AF65-F5344CB8AC3E}">
        <p14:creationId xmlns:p14="http://schemas.microsoft.com/office/powerpoint/2010/main" val="30510685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30EAE-18E6-4A03-82CC-609371E5DC1A}"/>
              </a:ext>
            </a:extLst>
          </p:cNvPr>
          <p:cNvSpPr/>
          <p:nvPr/>
        </p:nvSpPr>
        <p:spPr>
          <a:xfrm>
            <a:off x="1790700" y="2347942"/>
            <a:ext cx="11963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The class will be divided into 5 groups.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Each group need to prepare a situation in their community that shows the application of evaporation. </a:t>
            </a:r>
            <a:endParaRPr lang="en-PH" sz="4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A member will explain how evaporation can be beneficial. </a:t>
            </a:r>
            <a:endParaRPr lang="en-PH" sz="4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80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057FEC-72CE-4C4F-9E8C-73C868DB69FD}"/>
              </a:ext>
            </a:extLst>
          </p:cNvPr>
          <p:cNvSpPr/>
          <p:nvPr/>
        </p:nvSpPr>
        <p:spPr>
          <a:xfrm>
            <a:off x="2040724" y="4075212"/>
            <a:ext cx="1218474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of output. </a:t>
            </a:r>
            <a:endParaRPr lang="en-PH" sz="9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1340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A0A655-F0DC-4053-B3A4-437F27513611}"/>
              </a:ext>
            </a:extLst>
          </p:cNvPr>
          <p:cNvSpPr/>
          <p:nvPr/>
        </p:nvSpPr>
        <p:spPr>
          <a:xfrm>
            <a:off x="2133600" y="1108362"/>
            <a:ext cx="1219818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Direction: Read the conditions stated in the box. Pick out those that undergo evaporation process. </a:t>
            </a:r>
            <a:endParaRPr lang="en-PH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367DB8-076E-439C-92E4-26AADFFB672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803440" y="2725256"/>
            <a:ext cx="10858500" cy="483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2866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039BA4-0827-4088-A3AC-A56905F714F7}"/>
              </a:ext>
            </a:extLst>
          </p:cNvPr>
          <p:cNvSpPr/>
          <p:nvPr/>
        </p:nvSpPr>
        <p:spPr>
          <a:xfrm>
            <a:off x="1904999" y="3395008"/>
            <a:ext cx="1013565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</a:rPr>
              <a:t>Why it is important to know the process of evaporation? </a:t>
            </a:r>
            <a:endParaRPr lang="en-PH" sz="6000" dirty="0"/>
          </a:p>
        </p:txBody>
      </p:sp>
    </p:spTree>
    <p:extLst>
      <p:ext uri="{BB962C8B-B14F-4D97-AF65-F5344CB8AC3E}">
        <p14:creationId xmlns:p14="http://schemas.microsoft.com/office/powerpoint/2010/main" val="36061713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A8F4BF-199D-4FA5-B55C-C392765A1EA7}"/>
              </a:ext>
            </a:extLst>
          </p:cNvPr>
          <p:cNvSpPr/>
          <p:nvPr/>
        </p:nvSpPr>
        <p:spPr>
          <a:xfrm>
            <a:off x="2189666" y="1139052"/>
            <a:ext cx="70230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answer this 3-2-1 exit card. </a:t>
            </a:r>
            <a:endParaRPr lang="en-PH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20 Creative 3, 2,1 Activities For Critical Thinking and Reflection -  Teaching Expertise">
            <a:extLst>
              <a:ext uri="{FF2B5EF4-FFF2-40B4-BE49-F238E27FC236}">
                <a16:creationId xmlns:a16="http://schemas.microsoft.com/office/drawing/2014/main" id="{C130BAE9-9324-4ADE-8697-F0328D0F8DAE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t="23705" r="9991" b="2397"/>
          <a:stretch/>
        </p:blipFill>
        <p:spPr bwMode="auto">
          <a:xfrm>
            <a:off x="3392129" y="1846938"/>
            <a:ext cx="9173496" cy="6028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36258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F33D5B-F8CD-4856-8C05-8AB0A6ACFAA4}"/>
              </a:ext>
            </a:extLst>
          </p:cNvPr>
          <p:cNvSpPr/>
          <p:nvPr/>
        </p:nvSpPr>
        <p:spPr>
          <a:xfrm>
            <a:off x="2477729" y="1155031"/>
            <a:ext cx="106347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following questions. Write the letter of the correct answer. </a:t>
            </a:r>
            <a:endParaRPr lang="en-PH" sz="4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F2758B-4F3A-4822-BD3B-44FE93882D63}"/>
              </a:ext>
            </a:extLst>
          </p:cNvPr>
          <p:cNvSpPr/>
          <p:nvPr/>
        </p:nvSpPr>
        <p:spPr>
          <a:xfrm>
            <a:off x="2995081" y="3037995"/>
            <a:ext cx="1011739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Lester had noticed that the amount of water in a</a:t>
            </a:r>
            <a:r>
              <a:rPr lang="en-PH" sz="3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container with a plant becomes less as the days. What do think is the reason of decreasing amount of water in a container?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Some insects sipped the water.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Water in the container was not changed.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Water evaporated because of heat. </a:t>
            </a:r>
            <a:endParaRPr lang="en-PH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The plant has a stem.</a:t>
            </a:r>
            <a:endParaRPr lang="en-PH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0601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8D4550-2FB5-41EE-A6E8-E5ADCECA58D0}"/>
              </a:ext>
            </a:extLst>
          </p:cNvPr>
          <p:cNvSpPr/>
          <p:nvPr/>
        </p:nvSpPr>
        <p:spPr>
          <a:xfrm>
            <a:off x="2241755" y="2837647"/>
            <a:ext cx="9144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Which of these examples shows evaporation process as technique of separating mixtures?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drying of water on the table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flooding of water in the river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cooling of water in the refrigerator</a:t>
            </a:r>
            <a:endParaRPr lang="en-PH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644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AA01F4-C13A-4C25-A04F-73402BD1E627}"/>
              </a:ext>
            </a:extLst>
          </p:cNvPr>
          <p:cNvSpPr/>
          <p:nvPr/>
        </p:nvSpPr>
        <p:spPr>
          <a:xfrm>
            <a:off x="2064774" y="2729925"/>
            <a:ext cx="9144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3, What technique will Jocelyn use if she wants to separate salt mixed with water in a container?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filtering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evaporation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picking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sedimentation</a:t>
            </a:r>
            <a:endParaRPr lang="en-PH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3022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E437A-F944-4423-A937-BC25232BA96B}"/>
              </a:ext>
            </a:extLst>
          </p:cNvPr>
          <p:cNvSpPr/>
          <p:nvPr/>
        </p:nvSpPr>
        <p:spPr>
          <a:xfrm>
            <a:off x="1769806" y="2955706"/>
            <a:ext cx="1238864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In evaporation process, liquid becomes _________when heated.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solid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liquid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plasma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vapor</a:t>
            </a:r>
            <a:endParaRPr lang="en-PH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4625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F7497-3BFF-4ACD-9F13-04326EEEE767}"/>
              </a:ext>
            </a:extLst>
          </p:cNvPr>
          <p:cNvSpPr/>
          <p:nvPr/>
        </p:nvSpPr>
        <p:spPr>
          <a:xfrm>
            <a:off x="1752600" y="2755374"/>
            <a:ext cx="121539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It is a process of separating mixtures which involves heating leaving the solid residue in a container.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evaporation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precipitation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distillation</a:t>
            </a:r>
            <a:endParaRPr lang="en-PH" sz="4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</a:rPr>
              <a:t>d. sedimentation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6518805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06A75-CDF9-4071-8C4F-41E05CC4A411}"/>
              </a:ext>
            </a:extLst>
          </p:cNvPr>
          <p:cNvSpPr/>
          <p:nvPr/>
        </p:nvSpPr>
        <p:spPr>
          <a:xfrm>
            <a:off x="2209800" y="3694212"/>
            <a:ext cx="1023790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dirty="0">
                <a:latin typeface="Calibri" panose="020F0502020204030204" pitchFamily="34" charset="0"/>
                <a:ea typeface="Calibri" panose="020F0502020204030204" pitchFamily="34" charset="0"/>
              </a:rPr>
              <a:t>Review for the weekly assessment tomorrow. </a:t>
            </a:r>
            <a:endParaRPr lang="en-PH" sz="6600" dirty="0"/>
          </a:p>
        </p:txBody>
      </p:sp>
    </p:spTree>
    <p:extLst>
      <p:ext uri="{BB962C8B-B14F-4D97-AF65-F5344CB8AC3E}">
        <p14:creationId xmlns:p14="http://schemas.microsoft.com/office/powerpoint/2010/main" val="16088881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3174460" y="2462719"/>
            <a:ext cx="87889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latin typeface="Century Gothic" panose="020B0502020202020204" pitchFamily="34" charset="0"/>
              </a:rPr>
              <a:t>Science 6</a:t>
            </a:r>
            <a:br>
              <a:rPr lang="en-PH" sz="8800" dirty="0">
                <a:latin typeface="Century Gothic" panose="020B0502020202020204" pitchFamily="34" charset="0"/>
              </a:rPr>
            </a:br>
            <a:endParaRPr lang="en-PH" sz="8800" dirty="0">
              <a:latin typeface="Century Gothic" panose="020B0502020202020204" pitchFamily="34" charset="0"/>
            </a:endParaRPr>
          </a:p>
          <a:p>
            <a:pPr algn="ctr"/>
            <a:r>
              <a:rPr lang="en-PH" sz="8800" dirty="0">
                <a:latin typeface="Century Gothic" panose="020B0502020202020204" pitchFamily="34" charset="0"/>
              </a:rPr>
              <a:t>Week 4 – Day 5</a:t>
            </a:r>
          </a:p>
        </p:txBody>
      </p:sp>
    </p:spTree>
    <p:extLst>
      <p:ext uri="{BB962C8B-B14F-4D97-AF65-F5344CB8AC3E}">
        <p14:creationId xmlns:p14="http://schemas.microsoft.com/office/powerpoint/2010/main" val="29082681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2450560" y="2157919"/>
            <a:ext cx="116464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200" dirty="0">
                <a:latin typeface="Century Gothic" panose="020B0502020202020204" pitchFamily="34" charset="0"/>
              </a:rPr>
              <a:t>Objectives:</a:t>
            </a:r>
            <a:br>
              <a:rPr lang="en-PH" sz="4000" dirty="0">
                <a:latin typeface="Century Gothic" panose="020B0502020202020204" pitchFamily="34" charset="0"/>
              </a:rPr>
            </a:br>
            <a:br>
              <a:rPr lang="en-PH" sz="4800" dirty="0">
                <a:latin typeface="Century Gothic" panose="020B0502020202020204" pitchFamily="34" charset="0"/>
              </a:rPr>
            </a:br>
            <a:r>
              <a:rPr lang="en-US" sz="4800" dirty="0">
                <a:latin typeface="Century Gothic" panose="020B0502020202020204" pitchFamily="34" charset="0"/>
              </a:rPr>
              <a:t>Describe techniques in separating mixtures such as decantation, evaporation, filtering, sieving and using magnet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en-PH" sz="5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4897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E3D-8C5D-4087-A3E7-35FE5D5EA696}"/>
              </a:ext>
            </a:extLst>
          </p:cNvPr>
          <p:cNvSpPr txBox="1"/>
          <p:nvPr/>
        </p:nvSpPr>
        <p:spPr>
          <a:xfrm>
            <a:off x="1955260" y="3696950"/>
            <a:ext cx="116464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latin typeface="Century Gothic" panose="020B0502020202020204" pitchFamily="34" charset="0"/>
              </a:rPr>
              <a:t>Weekly Test</a:t>
            </a:r>
          </a:p>
        </p:txBody>
      </p:sp>
    </p:spTree>
    <p:extLst>
      <p:ext uri="{BB962C8B-B14F-4D97-AF65-F5344CB8AC3E}">
        <p14:creationId xmlns:p14="http://schemas.microsoft.com/office/powerpoint/2010/main" val="8887998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1DAC5-8D6A-4A90-AA3B-12505EE22F31}"/>
              </a:ext>
            </a:extLst>
          </p:cNvPr>
          <p:cNvSpPr/>
          <p:nvPr/>
        </p:nvSpPr>
        <p:spPr>
          <a:xfrm>
            <a:off x="1790700" y="3776990"/>
            <a:ext cx="125349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Recall their past lessons.</a:t>
            </a:r>
            <a:endParaRPr lang="en-PH" sz="6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Preparation of test materials.</a:t>
            </a:r>
            <a:endParaRPr lang="en-PH" sz="6600" dirty="0"/>
          </a:p>
        </p:txBody>
      </p:sp>
    </p:spTree>
    <p:extLst>
      <p:ext uri="{BB962C8B-B14F-4D97-AF65-F5344CB8AC3E}">
        <p14:creationId xmlns:p14="http://schemas.microsoft.com/office/powerpoint/2010/main" val="593854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649B53-E4A7-4A3A-A3A6-BFA566E9ECCF}"/>
              </a:ext>
            </a:extLst>
          </p:cNvPr>
          <p:cNvSpPr/>
          <p:nvPr/>
        </p:nvSpPr>
        <p:spPr>
          <a:xfrm>
            <a:off x="1714500" y="3066008"/>
            <a:ext cx="128074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that you have learned decantation and evaporation, let’s assess your understanding by taking the quiz. </a:t>
            </a:r>
            <a:endParaRPr lang="en-PH" sz="6600" dirty="0"/>
          </a:p>
        </p:txBody>
      </p:sp>
    </p:spTree>
    <p:extLst>
      <p:ext uri="{BB962C8B-B14F-4D97-AF65-F5344CB8AC3E}">
        <p14:creationId xmlns:p14="http://schemas.microsoft.com/office/powerpoint/2010/main" val="12460448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D5ECA-7ED4-47AD-9864-1076A2DABFD8}"/>
              </a:ext>
            </a:extLst>
          </p:cNvPr>
          <p:cNvSpPr/>
          <p:nvPr/>
        </p:nvSpPr>
        <p:spPr>
          <a:xfrm>
            <a:off x="1752599" y="3632537"/>
            <a:ext cx="1246327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Setting of standards in taking the test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40703905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AF707A-95D5-447B-A177-ED08D781A618}"/>
              </a:ext>
            </a:extLst>
          </p:cNvPr>
          <p:cNvSpPr/>
          <p:nvPr/>
        </p:nvSpPr>
        <p:spPr>
          <a:xfrm>
            <a:off x="2247900" y="3541812"/>
            <a:ext cx="92953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Distributes test materials to the pupils.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5279373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A3C9B1-2FAA-490A-A6A7-BB75F6882946}"/>
              </a:ext>
            </a:extLst>
          </p:cNvPr>
          <p:cNvSpPr/>
          <p:nvPr/>
        </p:nvSpPr>
        <p:spPr>
          <a:xfrm>
            <a:off x="2244048" y="4171771"/>
            <a:ext cx="905247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Answering of test items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100694997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68C5E6-DA7B-4887-9F25-C6527753EBDB}"/>
              </a:ext>
            </a:extLst>
          </p:cNvPr>
          <p:cNvSpPr/>
          <p:nvPr/>
        </p:nvSpPr>
        <p:spPr>
          <a:xfrm>
            <a:off x="1981200" y="3552735"/>
            <a:ext cx="1260316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Checking and recording of test results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33058135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8E02EB-AF59-4FF6-920B-B57FD0FA36D9}"/>
              </a:ext>
            </a:extLst>
          </p:cNvPr>
          <p:cNvSpPr/>
          <p:nvPr/>
        </p:nvSpPr>
        <p:spPr>
          <a:xfrm>
            <a:off x="2169709" y="3764340"/>
            <a:ext cx="936025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</a:rPr>
              <a:t>Test item analysis.</a:t>
            </a:r>
            <a:endParaRPr lang="en-PH" sz="9600" dirty="0"/>
          </a:p>
        </p:txBody>
      </p:sp>
    </p:spTree>
    <p:extLst>
      <p:ext uri="{BB962C8B-B14F-4D97-AF65-F5344CB8AC3E}">
        <p14:creationId xmlns:p14="http://schemas.microsoft.com/office/powerpoint/2010/main" val="3145677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2132</Words>
  <Application>Microsoft Office PowerPoint</Application>
  <PresentationFormat>Custom</PresentationFormat>
  <Paragraphs>218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Arial</vt:lpstr>
      <vt:lpstr>Calibri</vt:lpstr>
      <vt:lpstr>Segoe UI Symbol</vt:lpstr>
      <vt:lpstr>Century Gothic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29</cp:revision>
  <dcterms:modified xsi:type="dcterms:W3CDTF">2023-09-16T17:02:08Z</dcterms:modified>
</cp:coreProperties>
</file>