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hy7ZxkGVnyQjXVKIqWyP16kjl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4230E7-800E-4192-A647-07BC10C49D38}">
  <a:tblStyle styleId="{CA4230E7-800E-4192-A647-07BC10C49D38}"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5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5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5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5"/>
          <p:cNvSpPr/>
          <p:nvPr>
            <p:ph idx="2" type="pic"/>
          </p:nvPr>
        </p:nvSpPr>
        <p:spPr>
          <a:xfrm>
            <a:off x="1792288" y="612775"/>
            <a:ext cx="5486400" cy="4114800"/>
          </a:xfrm>
          <a:prstGeom prst="rect">
            <a:avLst/>
          </a:prstGeom>
          <a:noFill/>
          <a:ln>
            <a:noFill/>
          </a:ln>
        </p:spPr>
      </p:sp>
      <p:sp>
        <p:nvSpPr>
          <p:cNvPr id="64" name="Google Shape;64;p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0" y="1280775"/>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SCIENCE 6</a:t>
            </a:r>
            <a:br>
              <a:rPr lang="en-US"/>
            </a:br>
            <a:r>
              <a:rPr lang="en-US"/>
              <a:t>(</a:t>
            </a:r>
            <a:r>
              <a:rPr b="1" lang="en-US"/>
              <a:t>Describing Mixtures)</a:t>
            </a:r>
            <a:endParaRPr/>
          </a:p>
        </p:txBody>
      </p:sp>
      <p:sp>
        <p:nvSpPr>
          <p:cNvPr id="85" name="Google Shape;85;p1"/>
          <p:cNvSpPr txBox="1"/>
          <p:nvPr>
            <p:ph idx="1" type="subTitle"/>
          </p:nvPr>
        </p:nvSpPr>
        <p:spPr>
          <a:xfrm>
            <a:off x="685800" y="3259075"/>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None/>
            </a:pPr>
            <a:r>
              <a:rPr b="1" lang="en-US">
                <a:solidFill>
                  <a:schemeClr val="dk1"/>
                </a:solidFill>
              </a:rPr>
              <a:t>Quarter 1 </a:t>
            </a:r>
            <a:endParaRPr/>
          </a:p>
          <a:p>
            <a:pPr indent="0" lvl="0" marL="0" rtl="0" algn="ctr">
              <a:spcBef>
                <a:spcPts val="640"/>
              </a:spcBef>
              <a:spcAft>
                <a:spcPts val="0"/>
              </a:spcAft>
              <a:buClr>
                <a:schemeClr val="dk1"/>
              </a:buClr>
              <a:buSzPts val="3200"/>
              <a:buNone/>
            </a:pPr>
            <a:r>
              <a:rPr b="1" lang="en-US">
                <a:solidFill>
                  <a:schemeClr val="dk1"/>
                </a:solidFill>
              </a:rPr>
              <a:t>Week 1 – Day 1</a:t>
            </a:r>
            <a:endParaRPr b="1">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t>Content Standard</a:t>
            </a:r>
            <a:endParaRPr/>
          </a:p>
        </p:txBody>
      </p:sp>
      <p:sp>
        <p:nvSpPr>
          <p:cNvPr id="91" name="Google Shape;91;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The learners demonstrate understanding of different types of mixtures and their characteristics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Motivation:</a:t>
            </a:r>
            <a:endParaRPr/>
          </a:p>
        </p:txBody>
      </p:sp>
      <p:sp>
        <p:nvSpPr>
          <p:cNvPr id="97" name="Google Shape;9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Have you tried to make a sandwich? How can we make a sandwich? Can you arrange the ingredients below?</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pic>
        <p:nvPicPr>
          <p:cNvPr id="98" name="Google Shape;98;p3"/>
          <p:cNvPicPr preferRelativeResize="0"/>
          <p:nvPr/>
        </p:nvPicPr>
        <p:blipFill rotWithShape="1">
          <a:blip r:embed="rId3">
            <a:alphaModFix/>
          </a:blip>
          <a:srcRect b="0" l="0" r="0" t="0"/>
          <a:stretch/>
        </p:blipFill>
        <p:spPr>
          <a:xfrm>
            <a:off x="2483768" y="3212976"/>
            <a:ext cx="4680520" cy="28803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04" name="Google Shape;104;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None/>
            </a:pPr>
            <a:r>
              <a:rPr lang="en-US" sz="4000"/>
              <a:t>What have you notice in our activity? Can you give another example of foods that can be mixed? Share it in our class</a:t>
            </a:r>
            <a:r>
              <a:rPr lang="en-US"/>
              <a:t>.</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10" name="Google Shape;110;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Let us learn about describing mixtures.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Discussion</a:t>
            </a:r>
            <a:endParaRPr/>
          </a:p>
        </p:txBody>
      </p:sp>
      <p:sp>
        <p:nvSpPr>
          <p:cNvPr id="116" name="Google Shape;116;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Mixtures are combinations of two or more substances that can be</a:t>
            </a:r>
            <a:br>
              <a:rPr lang="en-US"/>
            </a:br>
            <a:r>
              <a:rPr lang="en-US"/>
              <a:t>homogeneous or heterogeneous. Homogeneous mixtures appear uniform all</a:t>
            </a:r>
            <a:br>
              <a:rPr lang="en-US"/>
            </a:br>
            <a:r>
              <a:rPr lang="en-US"/>
              <a:t>throughout because they have the same proportion. Heterogeneous mixtures</a:t>
            </a:r>
            <a:br>
              <a:rPr lang="en-US"/>
            </a:br>
            <a:r>
              <a:rPr lang="en-US"/>
              <a:t>are not uniform in proportion where combined substances are not evenly</a:t>
            </a:r>
            <a:br>
              <a:rPr lang="en-US"/>
            </a:br>
            <a:r>
              <a:rPr lang="en-US"/>
              <a:t>spread or mixed.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122" name="Google Shape;122;p7"/>
          <p:cNvPicPr preferRelativeResize="0"/>
          <p:nvPr>
            <p:ph idx="1" type="body"/>
          </p:nvPr>
        </p:nvPicPr>
        <p:blipFill rotWithShape="1">
          <a:blip r:embed="rId3">
            <a:alphaModFix/>
          </a:blip>
          <a:srcRect b="4303" l="2360" r="0" t="4000"/>
          <a:stretch/>
        </p:blipFill>
        <p:spPr>
          <a:xfrm>
            <a:off x="1187624" y="1628800"/>
            <a:ext cx="6912768" cy="46085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3200"/>
              <a:buFont typeface="Calibri"/>
              <a:buNone/>
            </a:pPr>
            <a:r>
              <a:rPr lang="en-US" sz="3200"/>
              <a:t>Instruction: From what we have discussed about mixture, answer the following question to your journal.</a:t>
            </a:r>
            <a:endParaRPr sz="3200"/>
          </a:p>
        </p:txBody>
      </p:sp>
      <p:sp>
        <p:nvSpPr>
          <p:cNvPr id="128" name="Google Shape;128;p8"/>
          <p:cNvSpPr txBox="1"/>
          <p:nvPr>
            <p:ph idx="1" type="body"/>
          </p:nvPr>
        </p:nvSpPr>
        <p:spPr>
          <a:xfrm>
            <a:off x="323528" y="1844824"/>
            <a:ext cx="8568952"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100000"/>
              <a:buNone/>
            </a:pPr>
            <a:r>
              <a:rPr lang="en-US"/>
              <a:t>1. How will you define mixture?</a:t>
            </a:r>
            <a:endParaRPr/>
          </a:p>
          <a:p>
            <a:pPr indent="-154940" lvl="0" marL="342900" rtl="0" algn="l">
              <a:spcBef>
                <a:spcPts val="592"/>
              </a:spcBef>
              <a:spcAft>
                <a:spcPts val="0"/>
              </a:spcAft>
              <a:buClr>
                <a:schemeClr val="dk1"/>
              </a:buClr>
              <a:buSzPct val="100000"/>
              <a:buNone/>
            </a:pPr>
            <a:r>
              <a:t/>
            </a:r>
            <a:endParaRPr/>
          </a:p>
          <a:p>
            <a:pPr indent="0" lvl="0" marL="0" rtl="0" algn="l">
              <a:spcBef>
                <a:spcPts val="592"/>
              </a:spcBef>
              <a:spcAft>
                <a:spcPts val="0"/>
              </a:spcAft>
              <a:buClr>
                <a:schemeClr val="dk1"/>
              </a:buClr>
              <a:buSzPct val="100000"/>
              <a:buNone/>
            </a:pPr>
            <a:r>
              <a:rPr lang="en-US"/>
              <a:t>2. What are the 2 types of mixtures? __________ and ___________.</a:t>
            </a:r>
            <a:endParaRPr/>
          </a:p>
          <a:p>
            <a:pPr indent="-154940" lvl="0" marL="342900" rtl="0" algn="l">
              <a:spcBef>
                <a:spcPts val="592"/>
              </a:spcBef>
              <a:spcAft>
                <a:spcPts val="0"/>
              </a:spcAft>
              <a:buClr>
                <a:schemeClr val="dk1"/>
              </a:buClr>
              <a:buSzPct val="100000"/>
              <a:buNone/>
            </a:pPr>
            <a:r>
              <a:t/>
            </a:r>
            <a:endParaRPr/>
          </a:p>
          <a:p>
            <a:pPr indent="0" lvl="0" marL="0" rtl="0" algn="l">
              <a:spcBef>
                <a:spcPts val="592"/>
              </a:spcBef>
              <a:spcAft>
                <a:spcPts val="0"/>
              </a:spcAft>
              <a:buClr>
                <a:schemeClr val="dk1"/>
              </a:buClr>
              <a:buSzPct val="100000"/>
              <a:buNone/>
            </a:pPr>
            <a:r>
              <a:rPr lang="en-US"/>
              <a:t>3. How can you differentiate the 2 mixtures? Explain your answer.</a:t>
            </a:r>
            <a:endParaRPr/>
          </a:p>
          <a:p>
            <a:pPr indent="-154940" lvl="0" marL="342900" rtl="0" algn="l">
              <a:spcBef>
                <a:spcPts val="592"/>
              </a:spcBef>
              <a:spcAft>
                <a:spcPts val="0"/>
              </a:spcAft>
              <a:buClr>
                <a:schemeClr val="dk1"/>
              </a:buClr>
              <a:buSzPct val="100000"/>
              <a:buNone/>
            </a:pPr>
            <a:r>
              <a:t/>
            </a:r>
            <a:endParaRPr/>
          </a:p>
          <a:p>
            <a:pPr indent="0" lvl="0" marL="0" rtl="0" algn="l">
              <a:spcBef>
                <a:spcPts val="592"/>
              </a:spcBef>
              <a:spcAft>
                <a:spcPts val="0"/>
              </a:spcAft>
              <a:buClr>
                <a:schemeClr val="dk1"/>
              </a:buClr>
              <a:buSzPct val="100000"/>
              <a:buNone/>
            </a:pPr>
            <a:r>
              <a:rPr lang="en-US"/>
              <a:t>4. Give at least 2 example of each mixture.</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34" name="Google Shape;134;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Discuss the concept of the lesson.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3200"/>
              <a:buFont typeface="Calibri"/>
              <a:buNone/>
            </a:pPr>
            <a:r>
              <a:rPr lang="en-US" sz="3200"/>
              <a:t>Instruction: Identify if the following mixture is homogenous or heterogeneous.</a:t>
            </a:r>
            <a:endParaRPr sz="3200"/>
          </a:p>
        </p:txBody>
      </p:sp>
      <p:sp>
        <p:nvSpPr>
          <p:cNvPr id="140" name="Google Shape;140;p10"/>
          <p:cNvSpPr txBox="1"/>
          <p:nvPr>
            <p:ph idx="1" type="body"/>
          </p:nvPr>
        </p:nvSpPr>
        <p:spPr>
          <a:xfrm>
            <a:off x="4932040" y="1628800"/>
            <a:ext cx="3610744"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3</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rPr lang="en-US"/>
              <a:t>4. </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rPr lang="en-US"/>
              <a:t>5. </a:t>
            </a:r>
            <a:endParaRPr/>
          </a:p>
        </p:txBody>
      </p:sp>
      <p:pic>
        <p:nvPicPr>
          <p:cNvPr id="141" name="Google Shape;141;p10"/>
          <p:cNvPicPr preferRelativeResize="0"/>
          <p:nvPr/>
        </p:nvPicPr>
        <p:blipFill rotWithShape="1">
          <a:blip r:embed="rId3">
            <a:alphaModFix/>
          </a:blip>
          <a:srcRect b="0" l="0" r="0" t="0"/>
          <a:stretch/>
        </p:blipFill>
        <p:spPr>
          <a:xfrm>
            <a:off x="1403648" y="1772816"/>
            <a:ext cx="1800200" cy="1440160"/>
          </a:xfrm>
          <a:prstGeom prst="rect">
            <a:avLst/>
          </a:prstGeom>
          <a:noFill/>
          <a:ln>
            <a:noFill/>
          </a:ln>
        </p:spPr>
      </p:pic>
      <p:pic>
        <p:nvPicPr>
          <p:cNvPr id="142" name="Google Shape;142;p10"/>
          <p:cNvPicPr preferRelativeResize="0"/>
          <p:nvPr/>
        </p:nvPicPr>
        <p:blipFill rotWithShape="1">
          <a:blip r:embed="rId4">
            <a:alphaModFix/>
          </a:blip>
          <a:srcRect b="0" l="0" r="0" t="0"/>
          <a:stretch/>
        </p:blipFill>
        <p:spPr>
          <a:xfrm>
            <a:off x="1559211" y="3428206"/>
            <a:ext cx="1428613" cy="2305886"/>
          </a:xfrm>
          <a:prstGeom prst="rect">
            <a:avLst/>
          </a:prstGeom>
          <a:noFill/>
          <a:ln>
            <a:noFill/>
          </a:ln>
        </p:spPr>
      </p:pic>
      <p:sp>
        <p:nvSpPr>
          <p:cNvPr id="143" name="Google Shape;143;p10"/>
          <p:cNvSpPr txBox="1"/>
          <p:nvPr/>
        </p:nvSpPr>
        <p:spPr>
          <a:xfrm>
            <a:off x="609600" y="1752600"/>
            <a:ext cx="3610744" cy="452596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1.</a:t>
            </a:r>
            <a:endParaRPr/>
          </a:p>
          <a:p>
            <a:pPr indent="0" lvl="0" marL="0" marR="0" rtl="0" algn="l">
              <a:spcBef>
                <a:spcPts val="64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spcBef>
                <a:spcPts val="64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spcBef>
                <a:spcPts val="64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2.  </a:t>
            </a:r>
            <a:endParaRPr b="0" i="0" sz="3200" u="none" cap="none" strike="noStrike">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5">
            <a:alphaModFix/>
          </a:blip>
          <a:srcRect b="0" l="0" r="0" t="0"/>
          <a:stretch/>
        </p:blipFill>
        <p:spPr>
          <a:xfrm>
            <a:off x="5652119" y="1628800"/>
            <a:ext cx="1295337" cy="1368152"/>
          </a:xfrm>
          <a:prstGeom prst="rect">
            <a:avLst/>
          </a:prstGeom>
          <a:noFill/>
          <a:ln>
            <a:noFill/>
          </a:ln>
        </p:spPr>
      </p:pic>
      <p:pic>
        <p:nvPicPr>
          <p:cNvPr id="145" name="Google Shape;145;p10"/>
          <p:cNvPicPr preferRelativeResize="0"/>
          <p:nvPr/>
        </p:nvPicPr>
        <p:blipFill rotWithShape="1">
          <a:blip r:embed="rId6">
            <a:alphaModFix/>
          </a:blip>
          <a:srcRect b="0" l="0" r="0" t="0"/>
          <a:stretch/>
        </p:blipFill>
        <p:spPr>
          <a:xfrm>
            <a:off x="5827664" y="3212976"/>
            <a:ext cx="1264616" cy="1512168"/>
          </a:xfrm>
          <a:prstGeom prst="rect">
            <a:avLst/>
          </a:prstGeom>
          <a:noFill/>
          <a:ln>
            <a:noFill/>
          </a:ln>
        </p:spPr>
      </p:pic>
      <p:pic>
        <p:nvPicPr>
          <p:cNvPr id="146" name="Google Shape;146;p10"/>
          <p:cNvPicPr preferRelativeResize="0"/>
          <p:nvPr/>
        </p:nvPicPr>
        <p:blipFill rotWithShape="1">
          <a:blip r:embed="rId7">
            <a:alphaModFix/>
          </a:blip>
          <a:srcRect b="0" l="0" r="0" t="0"/>
          <a:stretch/>
        </p:blipFill>
        <p:spPr>
          <a:xfrm>
            <a:off x="5875619" y="5013176"/>
            <a:ext cx="1576701" cy="10801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en-US" sz="2800"/>
              <a:t>Instruction: Classify the following mixture Write HO for homogeneous mixtures and HE for heterogeneous. </a:t>
            </a:r>
            <a:endParaRPr sz="2800"/>
          </a:p>
        </p:txBody>
      </p:sp>
      <p:sp>
        <p:nvSpPr>
          <p:cNvPr id="152" name="Google Shape;152;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Clr>
                <a:schemeClr val="dk1"/>
              </a:buClr>
              <a:buSzPct val="100000"/>
              <a:buNone/>
            </a:pPr>
            <a:r>
              <a:rPr lang="en-US"/>
              <a:t>1.	milk</a:t>
            </a:r>
            <a:endParaRPr/>
          </a:p>
          <a:p>
            <a:pPr indent="0" lvl="0" marL="0" rtl="0" algn="l">
              <a:spcBef>
                <a:spcPts val="544"/>
              </a:spcBef>
              <a:spcAft>
                <a:spcPts val="0"/>
              </a:spcAft>
              <a:buClr>
                <a:schemeClr val="dk1"/>
              </a:buClr>
              <a:buSzPct val="100000"/>
              <a:buNone/>
            </a:pPr>
            <a:r>
              <a:rPr lang="en-US"/>
              <a:t>2.	alloy</a:t>
            </a:r>
            <a:endParaRPr/>
          </a:p>
          <a:p>
            <a:pPr indent="0" lvl="0" marL="0" rtl="0" algn="l">
              <a:spcBef>
                <a:spcPts val="544"/>
              </a:spcBef>
              <a:spcAft>
                <a:spcPts val="0"/>
              </a:spcAft>
              <a:buClr>
                <a:schemeClr val="dk1"/>
              </a:buClr>
              <a:buSzPct val="100000"/>
              <a:buNone/>
            </a:pPr>
            <a:r>
              <a:rPr lang="en-US"/>
              <a:t>3.	smoke</a:t>
            </a:r>
            <a:endParaRPr/>
          </a:p>
          <a:p>
            <a:pPr indent="0" lvl="0" marL="0" rtl="0" algn="l">
              <a:spcBef>
                <a:spcPts val="544"/>
              </a:spcBef>
              <a:spcAft>
                <a:spcPts val="0"/>
              </a:spcAft>
              <a:buClr>
                <a:schemeClr val="dk1"/>
              </a:buClr>
              <a:buSzPct val="100000"/>
              <a:buNone/>
            </a:pPr>
            <a:r>
              <a:rPr lang="en-US"/>
              <a:t>4.	seawater</a:t>
            </a:r>
            <a:endParaRPr/>
          </a:p>
          <a:p>
            <a:pPr indent="0" lvl="0" marL="0" rtl="0" algn="l">
              <a:spcBef>
                <a:spcPts val="544"/>
              </a:spcBef>
              <a:spcAft>
                <a:spcPts val="0"/>
              </a:spcAft>
              <a:buClr>
                <a:schemeClr val="dk1"/>
              </a:buClr>
              <a:buSzPct val="100000"/>
              <a:buNone/>
            </a:pPr>
            <a:r>
              <a:rPr lang="en-US"/>
              <a:t>5.	vinegar</a:t>
            </a:r>
            <a:endParaRPr/>
          </a:p>
          <a:p>
            <a:pPr indent="0" lvl="0" marL="0" rtl="0" algn="l">
              <a:spcBef>
                <a:spcPts val="544"/>
              </a:spcBef>
              <a:spcAft>
                <a:spcPts val="0"/>
              </a:spcAft>
              <a:buClr>
                <a:schemeClr val="dk1"/>
              </a:buClr>
              <a:buSzPct val="100000"/>
              <a:buNone/>
            </a:pPr>
            <a:r>
              <a:rPr lang="en-US"/>
              <a:t>6.	syrup</a:t>
            </a:r>
            <a:endParaRPr/>
          </a:p>
          <a:p>
            <a:pPr indent="0" lvl="0" marL="0" rtl="0" algn="l">
              <a:spcBef>
                <a:spcPts val="544"/>
              </a:spcBef>
              <a:spcAft>
                <a:spcPts val="0"/>
              </a:spcAft>
              <a:buClr>
                <a:schemeClr val="dk1"/>
              </a:buClr>
              <a:buSzPct val="100000"/>
              <a:buNone/>
            </a:pPr>
            <a:r>
              <a:rPr lang="en-US"/>
              <a:t>7.	soil</a:t>
            </a:r>
            <a:endParaRPr/>
          </a:p>
          <a:p>
            <a:pPr indent="0" lvl="0" marL="0" rtl="0" algn="l">
              <a:spcBef>
                <a:spcPts val="544"/>
              </a:spcBef>
              <a:spcAft>
                <a:spcPts val="0"/>
              </a:spcAft>
              <a:buClr>
                <a:schemeClr val="dk1"/>
              </a:buClr>
              <a:buSzPct val="100000"/>
              <a:buNone/>
            </a:pPr>
            <a:r>
              <a:rPr lang="en-US"/>
              <a:t>8.	water</a:t>
            </a:r>
            <a:endParaRPr/>
          </a:p>
          <a:p>
            <a:pPr indent="0" lvl="0" marL="0" rtl="0" algn="l">
              <a:spcBef>
                <a:spcPts val="544"/>
              </a:spcBef>
              <a:spcAft>
                <a:spcPts val="0"/>
              </a:spcAft>
              <a:buClr>
                <a:schemeClr val="dk1"/>
              </a:buClr>
              <a:buSzPct val="100000"/>
              <a:buNone/>
            </a:pPr>
            <a:r>
              <a:rPr lang="en-US"/>
              <a:t>9.	plastic</a:t>
            </a:r>
            <a:endParaRPr/>
          </a:p>
          <a:p>
            <a:pPr indent="0" lvl="0" marL="0" rtl="0" algn="l">
              <a:spcBef>
                <a:spcPts val="544"/>
              </a:spcBef>
              <a:spcAft>
                <a:spcPts val="0"/>
              </a:spcAft>
              <a:buClr>
                <a:schemeClr val="dk1"/>
              </a:buClr>
              <a:buSzPct val="100000"/>
              <a:buNone/>
            </a:pPr>
            <a:r>
              <a:rPr lang="en-US"/>
              <a:t>10.	muddy water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SCIENCE 6</a:t>
            </a:r>
            <a:br>
              <a:rPr lang="en-US"/>
            </a:br>
            <a:r>
              <a:rPr lang="en-US"/>
              <a:t>(</a:t>
            </a:r>
            <a:r>
              <a:rPr b="1" lang="en-US"/>
              <a:t>Describing Mixtures)</a:t>
            </a:r>
            <a:endParaRPr/>
          </a:p>
        </p:txBody>
      </p:sp>
      <p:sp>
        <p:nvSpPr>
          <p:cNvPr id="158" name="Google Shape;158;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None/>
            </a:pPr>
            <a:r>
              <a:rPr b="1" lang="en-US">
                <a:solidFill>
                  <a:schemeClr val="dk1"/>
                </a:solidFill>
              </a:rPr>
              <a:t>Quarter 1 </a:t>
            </a:r>
            <a:endParaRPr/>
          </a:p>
          <a:p>
            <a:pPr indent="0" lvl="0" marL="0" rtl="0" algn="ctr">
              <a:spcBef>
                <a:spcPts val="640"/>
              </a:spcBef>
              <a:spcAft>
                <a:spcPts val="0"/>
              </a:spcAft>
              <a:buClr>
                <a:schemeClr val="dk1"/>
              </a:buClr>
              <a:buSzPts val="3200"/>
              <a:buNone/>
            </a:pPr>
            <a:r>
              <a:rPr b="1" lang="en-US">
                <a:solidFill>
                  <a:schemeClr val="dk1"/>
                </a:solidFill>
              </a:rPr>
              <a:t>Week 1 – Day 2</a:t>
            </a:r>
            <a:endParaRPr b="1">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64" name="Google Shape;164;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Can you give an example of mixtures?</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From the examples, what are the heterogeneous and homogenous mixtures?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Let’s experiment.</a:t>
            </a:r>
            <a:endParaRPr/>
          </a:p>
        </p:txBody>
      </p:sp>
      <p:sp>
        <p:nvSpPr>
          <p:cNvPr id="170" name="Google Shape;170;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Combine the two mixtures </a:t>
            </a:r>
            <a:endParaRPr/>
          </a:p>
          <a:p>
            <a:pPr indent="-139700" lvl="0" marL="34290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rPr lang="en-US"/>
              <a:t>1.	oil and water</a:t>
            </a:r>
            <a:endParaRPr/>
          </a:p>
          <a:p>
            <a:pPr indent="0" lvl="0" marL="0" rtl="0" algn="l">
              <a:spcBef>
                <a:spcPts val="640"/>
              </a:spcBef>
              <a:spcAft>
                <a:spcPts val="0"/>
              </a:spcAft>
              <a:buClr>
                <a:schemeClr val="dk1"/>
              </a:buClr>
              <a:buSzPts val="3200"/>
              <a:buNone/>
            </a:pPr>
            <a:r>
              <a:rPr lang="en-US"/>
              <a:t>2.	sugar and water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Let’s observe:</a:t>
            </a:r>
            <a:endParaRPr/>
          </a:p>
        </p:txBody>
      </p:sp>
      <p:sp>
        <p:nvSpPr>
          <p:cNvPr id="176" name="Google Shape;176;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What have you observe from the two mixtures? Explain your answer.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ph type="title"/>
          </p:nvPr>
        </p:nvSpPr>
        <p:spPr>
          <a:xfrm>
            <a:off x="457175" y="188640"/>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Let’s do this.</a:t>
            </a:r>
            <a:endParaRPr/>
          </a:p>
        </p:txBody>
      </p:sp>
      <p:sp>
        <p:nvSpPr>
          <p:cNvPr id="182" name="Google Shape;182;p16"/>
          <p:cNvSpPr txBox="1"/>
          <p:nvPr>
            <p:ph idx="1" type="body"/>
          </p:nvPr>
        </p:nvSpPr>
        <p:spPr>
          <a:xfrm>
            <a:off x="457175" y="1412776"/>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Prepare solid and liquid materials that the learners will mixed.</a:t>
            </a:r>
            <a:endParaRPr/>
          </a:p>
          <a:p>
            <a:pPr indent="-342900" lvl="0" marL="342900" rtl="0" algn="l">
              <a:spcBef>
                <a:spcPts val="640"/>
              </a:spcBef>
              <a:spcAft>
                <a:spcPts val="0"/>
              </a:spcAft>
              <a:buClr>
                <a:schemeClr val="dk1"/>
              </a:buClr>
              <a:buSzPts val="3200"/>
              <a:buChar char="•"/>
            </a:pPr>
            <a:r>
              <a:rPr lang="en-US"/>
              <a:t>Ask the pupils to combine two substance and list the mixture on the board. Identify if it is heterogeneous and homogeneous.</a:t>
            </a:r>
            <a:endParaRPr/>
          </a:p>
        </p:txBody>
      </p:sp>
      <p:pic>
        <p:nvPicPr>
          <p:cNvPr id="183" name="Google Shape;183;p16"/>
          <p:cNvPicPr preferRelativeResize="0"/>
          <p:nvPr/>
        </p:nvPicPr>
        <p:blipFill rotWithShape="1">
          <a:blip r:embed="rId3">
            <a:alphaModFix/>
          </a:blip>
          <a:srcRect b="0" l="0" r="0" t="0"/>
          <a:stretch/>
        </p:blipFill>
        <p:spPr>
          <a:xfrm>
            <a:off x="2119114" y="4221088"/>
            <a:ext cx="4905722" cy="249289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89" name="Google Shape;189;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Discuss the answers of the pupils.</a:t>
            </a:r>
            <a:endParaRPr/>
          </a:p>
          <a:p>
            <a:pPr indent="-139700" lvl="0" marL="342900" rtl="0" algn="l">
              <a:spcBef>
                <a:spcPts val="640"/>
              </a:spcBef>
              <a:spcAft>
                <a:spcPts val="0"/>
              </a:spcAft>
              <a:buClr>
                <a:schemeClr val="dk1"/>
              </a:buClr>
              <a:buSzPts val="3200"/>
              <a:buNone/>
            </a:pPr>
            <a:r>
              <a:t/>
            </a:r>
            <a:endParaRPr/>
          </a:p>
          <a:p>
            <a:pPr indent="-342900" lvl="0" marL="342900" rtl="0" algn="l">
              <a:spcBef>
                <a:spcPts val="640"/>
              </a:spcBef>
              <a:spcAft>
                <a:spcPts val="0"/>
              </a:spcAft>
              <a:buClr>
                <a:schemeClr val="dk1"/>
              </a:buClr>
              <a:buSzPts val="3200"/>
              <a:buChar char="•"/>
            </a:pPr>
            <a:r>
              <a:rPr lang="en-US"/>
              <a:t>Let them explain their answer for understanding.</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195" name="Google Shape;195;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Mixtures are combinations of two or more substances that can be</a:t>
            </a:r>
            <a:endParaRPr/>
          </a:p>
          <a:p>
            <a:pPr indent="-342900" lvl="0" marL="342900" rtl="0" algn="l">
              <a:spcBef>
                <a:spcPts val="640"/>
              </a:spcBef>
              <a:spcAft>
                <a:spcPts val="0"/>
              </a:spcAft>
              <a:buClr>
                <a:schemeClr val="dk1"/>
              </a:buClr>
              <a:buSzPts val="3200"/>
              <a:buChar char="•"/>
            </a:pPr>
            <a:r>
              <a:rPr lang="en-US"/>
              <a:t>homogeneous or heterogeneous. Homogeneous mixtures appear uniform all</a:t>
            </a:r>
            <a:endParaRPr/>
          </a:p>
          <a:p>
            <a:pPr indent="-342900" lvl="0" marL="342900" rtl="0" algn="l">
              <a:spcBef>
                <a:spcPts val="640"/>
              </a:spcBef>
              <a:spcAft>
                <a:spcPts val="0"/>
              </a:spcAft>
              <a:buClr>
                <a:schemeClr val="dk1"/>
              </a:buClr>
              <a:buSzPts val="3200"/>
              <a:buChar char="•"/>
            </a:pPr>
            <a:r>
              <a:rPr lang="en-US"/>
              <a:t>throughout because they have the same proportion. Heterogeneous mixtures</a:t>
            </a:r>
            <a:endParaRPr/>
          </a:p>
          <a:p>
            <a:pPr indent="-342900" lvl="0" marL="342900" rtl="0" algn="l">
              <a:spcBef>
                <a:spcPts val="640"/>
              </a:spcBef>
              <a:spcAft>
                <a:spcPts val="0"/>
              </a:spcAft>
              <a:buClr>
                <a:schemeClr val="dk1"/>
              </a:buClr>
              <a:buSzPts val="3200"/>
              <a:buChar char="•"/>
            </a:pPr>
            <a:r>
              <a:rPr lang="en-US"/>
              <a:t>are not uniform in proportion where combined substances are not evenly</a:t>
            </a:r>
            <a:endParaRPr/>
          </a:p>
          <a:p>
            <a:pPr indent="-342900" lvl="0" marL="342900" rtl="0" algn="l">
              <a:spcBef>
                <a:spcPts val="640"/>
              </a:spcBef>
              <a:spcAft>
                <a:spcPts val="0"/>
              </a:spcAft>
              <a:buClr>
                <a:schemeClr val="dk1"/>
              </a:buClr>
              <a:buSzPts val="3200"/>
              <a:buChar char="•"/>
            </a:pPr>
            <a:r>
              <a:rPr lang="en-US"/>
              <a:t>spread or mixed.</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3200"/>
              <a:buFont typeface="Calibri"/>
              <a:buNone/>
            </a:pPr>
            <a:r>
              <a:rPr lang="en-US" sz="3200"/>
              <a:t>Instruction: Read and answer the following. Write the answers in your journal.</a:t>
            </a:r>
            <a:endParaRPr sz="3200"/>
          </a:p>
        </p:txBody>
      </p:sp>
      <p:sp>
        <p:nvSpPr>
          <p:cNvPr id="201" name="Google Shape;20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1. What are the different forms of mixtures?</a:t>
            </a:r>
            <a:endParaRPr/>
          </a:p>
          <a:p>
            <a:pPr indent="0" lvl="0" marL="0" rtl="0" algn="l">
              <a:spcBef>
                <a:spcPts val="640"/>
              </a:spcBef>
              <a:spcAft>
                <a:spcPts val="0"/>
              </a:spcAft>
              <a:buClr>
                <a:schemeClr val="dk1"/>
              </a:buClr>
              <a:buSzPts val="3200"/>
              <a:buNone/>
            </a:pPr>
            <a:r>
              <a:rPr lang="en-US"/>
              <a:t>2.Jelly, mixed the two mixtures like coffee, sugar, and water. Is it Heterogeneous or Homogeneous? Why?</a:t>
            </a:r>
            <a:endParaRPr/>
          </a:p>
          <a:p>
            <a:pPr indent="0" lvl="0" marL="0" rtl="0" algn="l">
              <a:spcBef>
                <a:spcPts val="640"/>
              </a:spcBef>
              <a:spcAft>
                <a:spcPts val="0"/>
              </a:spcAft>
              <a:buClr>
                <a:schemeClr val="dk1"/>
              </a:buClr>
              <a:buSzPts val="3200"/>
              <a:buNone/>
            </a:pPr>
            <a:r>
              <a:rPr lang="en-US"/>
              <a:t>3. Shiela, combined the different vegetables to make a salad. Is it Heterogeneous of Homogeneous? Why?</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07" name="Google Shape;20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Mixtures are combinations of two or more substances that can be</a:t>
            </a:r>
            <a:endParaRPr/>
          </a:p>
          <a:p>
            <a:pPr indent="0" lvl="0" marL="0" rtl="0" algn="l">
              <a:spcBef>
                <a:spcPts val="640"/>
              </a:spcBef>
              <a:spcAft>
                <a:spcPts val="0"/>
              </a:spcAft>
              <a:buClr>
                <a:schemeClr val="dk1"/>
              </a:buClr>
              <a:buSzPts val="3200"/>
              <a:buNone/>
            </a:pPr>
            <a:r>
              <a:rPr lang="en-US"/>
              <a:t>homogeneous or heterogeneous.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Instruction: Choose the best answer in the following questions.</a:t>
            </a:r>
            <a:endParaRPr/>
          </a:p>
        </p:txBody>
      </p:sp>
      <p:sp>
        <p:nvSpPr>
          <p:cNvPr id="213" name="Google Shape;21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1.There are two types of mixture. What are those?</a:t>
            </a:r>
            <a:endParaRPr/>
          </a:p>
          <a:p>
            <a:pPr indent="0" lvl="0" marL="0" rtl="0" algn="l">
              <a:spcBef>
                <a:spcPts val="640"/>
              </a:spcBef>
              <a:spcAft>
                <a:spcPts val="0"/>
              </a:spcAft>
              <a:buClr>
                <a:schemeClr val="dk1"/>
              </a:buClr>
              <a:buSzPts val="3200"/>
              <a:buNone/>
            </a:pPr>
            <a:r>
              <a:rPr lang="en-US"/>
              <a:t>a. solid and liquid</a:t>
            </a:r>
            <a:endParaRPr/>
          </a:p>
          <a:p>
            <a:pPr indent="0" lvl="0" marL="0" rtl="0" algn="l">
              <a:spcBef>
                <a:spcPts val="640"/>
              </a:spcBef>
              <a:spcAft>
                <a:spcPts val="0"/>
              </a:spcAft>
              <a:buClr>
                <a:schemeClr val="dk1"/>
              </a:buClr>
              <a:buSzPts val="3200"/>
              <a:buNone/>
            </a:pPr>
            <a:r>
              <a:rPr lang="en-US"/>
              <a:t>b. Liquid and gas</a:t>
            </a:r>
            <a:endParaRPr/>
          </a:p>
          <a:p>
            <a:pPr indent="0" lvl="0" marL="0" rtl="0" algn="l">
              <a:spcBef>
                <a:spcPts val="640"/>
              </a:spcBef>
              <a:spcAft>
                <a:spcPts val="0"/>
              </a:spcAft>
              <a:buClr>
                <a:schemeClr val="dk1"/>
              </a:buClr>
              <a:buSzPts val="3200"/>
              <a:buNone/>
            </a:pPr>
            <a:r>
              <a:rPr lang="en-US"/>
              <a:t>c. heterogeneous and gas substance</a:t>
            </a:r>
            <a:endParaRPr/>
          </a:p>
          <a:p>
            <a:pPr indent="0" lvl="0" marL="0" rtl="0" algn="l">
              <a:spcBef>
                <a:spcPts val="640"/>
              </a:spcBef>
              <a:spcAft>
                <a:spcPts val="0"/>
              </a:spcAft>
              <a:buClr>
                <a:schemeClr val="dk1"/>
              </a:buClr>
              <a:buSzPts val="3200"/>
              <a:buNone/>
            </a:pPr>
            <a:r>
              <a:rPr lang="en-US"/>
              <a:t>d. heterogeneous and homogeneous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19" name="Google Shape;219;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2.What is the best definition for heterogeneous?</a:t>
            </a:r>
            <a:endParaRPr/>
          </a:p>
          <a:p>
            <a:pPr indent="0" lvl="0" marL="0" rtl="0" algn="l">
              <a:spcBef>
                <a:spcPts val="640"/>
              </a:spcBef>
              <a:spcAft>
                <a:spcPts val="0"/>
              </a:spcAft>
              <a:buClr>
                <a:schemeClr val="dk1"/>
              </a:buClr>
              <a:buSzPts val="3200"/>
              <a:buNone/>
            </a:pPr>
            <a:r>
              <a:rPr lang="en-US"/>
              <a:t>a. We cannot distinguish their components.</a:t>
            </a:r>
            <a:endParaRPr/>
          </a:p>
          <a:p>
            <a:pPr indent="0" lvl="0" marL="0" rtl="0" algn="l">
              <a:spcBef>
                <a:spcPts val="640"/>
              </a:spcBef>
              <a:spcAft>
                <a:spcPts val="0"/>
              </a:spcAft>
              <a:buClr>
                <a:schemeClr val="dk1"/>
              </a:buClr>
              <a:buSzPts val="3200"/>
              <a:buNone/>
            </a:pPr>
            <a:r>
              <a:rPr lang="en-US"/>
              <a:t>b.It is made of solid and liquid substances.</a:t>
            </a:r>
            <a:endParaRPr/>
          </a:p>
          <a:p>
            <a:pPr indent="0" lvl="0" marL="0" rtl="0" algn="l">
              <a:spcBef>
                <a:spcPts val="640"/>
              </a:spcBef>
              <a:spcAft>
                <a:spcPts val="0"/>
              </a:spcAft>
              <a:buClr>
                <a:schemeClr val="dk1"/>
              </a:buClr>
              <a:buSzPts val="3200"/>
              <a:buNone/>
            </a:pPr>
            <a:r>
              <a:rPr lang="en-US"/>
              <a:t>c. It is made of liquid and gas substances.</a:t>
            </a:r>
            <a:endParaRPr/>
          </a:p>
          <a:p>
            <a:pPr indent="0" lvl="0" marL="0" rtl="0" algn="l">
              <a:spcBef>
                <a:spcPts val="640"/>
              </a:spcBef>
              <a:spcAft>
                <a:spcPts val="0"/>
              </a:spcAft>
              <a:buClr>
                <a:schemeClr val="dk1"/>
              </a:buClr>
              <a:buSzPts val="3200"/>
              <a:buNone/>
            </a:pPr>
            <a:r>
              <a:rPr lang="en-US"/>
              <a:t>d. we can distinguish their components.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25" name="Google Shape;225;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3.Which of the following mixtures which components are easily identified?</a:t>
            </a:r>
            <a:endParaRPr/>
          </a:p>
          <a:p>
            <a:pPr indent="0" lvl="0" marL="0" rtl="0" algn="l">
              <a:spcBef>
                <a:spcPts val="640"/>
              </a:spcBef>
              <a:spcAft>
                <a:spcPts val="0"/>
              </a:spcAft>
              <a:buClr>
                <a:schemeClr val="dk1"/>
              </a:buClr>
              <a:buSzPts val="3200"/>
              <a:buNone/>
            </a:pPr>
            <a:r>
              <a:rPr lang="en-US"/>
              <a:t>a. juice drink</a:t>
            </a:r>
            <a:endParaRPr/>
          </a:p>
          <a:p>
            <a:pPr indent="0" lvl="0" marL="0" rtl="0" algn="l">
              <a:spcBef>
                <a:spcPts val="640"/>
              </a:spcBef>
              <a:spcAft>
                <a:spcPts val="0"/>
              </a:spcAft>
              <a:buClr>
                <a:schemeClr val="dk1"/>
              </a:buClr>
              <a:buSzPts val="3200"/>
              <a:buNone/>
            </a:pPr>
            <a:r>
              <a:rPr lang="en-US"/>
              <a:t>b. hot chocolate</a:t>
            </a:r>
            <a:endParaRPr/>
          </a:p>
          <a:p>
            <a:pPr indent="0" lvl="0" marL="0" rtl="0" algn="l">
              <a:spcBef>
                <a:spcPts val="640"/>
              </a:spcBef>
              <a:spcAft>
                <a:spcPts val="0"/>
              </a:spcAft>
              <a:buClr>
                <a:schemeClr val="dk1"/>
              </a:buClr>
              <a:buSzPts val="3200"/>
              <a:buNone/>
            </a:pPr>
            <a:r>
              <a:rPr lang="en-US"/>
              <a:t>c. hot coffee</a:t>
            </a:r>
            <a:endParaRPr/>
          </a:p>
          <a:p>
            <a:pPr indent="0" lvl="0" marL="0" rtl="0" algn="l">
              <a:spcBef>
                <a:spcPts val="640"/>
              </a:spcBef>
              <a:spcAft>
                <a:spcPts val="0"/>
              </a:spcAft>
              <a:buClr>
                <a:schemeClr val="dk1"/>
              </a:buClr>
              <a:buSzPts val="3200"/>
              <a:buNone/>
            </a:pPr>
            <a:r>
              <a:rPr lang="en-US"/>
              <a:t>d. taho</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31" name="Google Shape;231;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4.Joana made a colored water what kind of mixture is colored water?</a:t>
            </a:r>
            <a:endParaRPr/>
          </a:p>
          <a:p>
            <a:pPr indent="0" lvl="0" marL="0" rtl="0" algn="l">
              <a:spcBef>
                <a:spcPts val="640"/>
              </a:spcBef>
              <a:spcAft>
                <a:spcPts val="0"/>
              </a:spcAft>
              <a:buClr>
                <a:schemeClr val="dk1"/>
              </a:buClr>
              <a:buSzPts val="3200"/>
              <a:buNone/>
            </a:pPr>
            <a:r>
              <a:rPr lang="en-US"/>
              <a:t>a. heterogenenous mixtures</a:t>
            </a:r>
            <a:endParaRPr/>
          </a:p>
          <a:p>
            <a:pPr indent="0" lvl="0" marL="0" rtl="0" algn="l">
              <a:spcBef>
                <a:spcPts val="640"/>
              </a:spcBef>
              <a:spcAft>
                <a:spcPts val="0"/>
              </a:spcAft>
              <a:buClr>
                <a:schemeClr val="dk1"/>
              </a:buClr>
              <a:buSzPts val="3200"/>
              <a:buNone/>
            </a:pPr>
            <a:r>
              <a:rPr lang="en-US"/>
              <a:t>b. solid and liquid mixtures</a:t>
            </a:r>
            <a:endParaRPr/>
          </a:p>
          <a:p>
            <a:pPr indent="0" lvl="0" marL="0" rtl="0" algn="l">
              <a:spcBef>
                <a:spcPts val="640"/>
              </a:spcBef>
              <a:spcAft>
                <a:spcPts val="0"/>
              </a:spcAft>
              <a:buClr>
                <a:schemeClr val="dk1"/>
              </a:buClr>
              <a:buSzPts val="3200"/>
              <a:buNone/>
            </a:pPr>
            <a:r>
              <a:rPr lang="en-US"/>
              <a:t>c. homogeneous mixture</a:t>
            </a:r>
            <a:endParaRPr/>
          </a:p>
          <a:p>
            <a:pPr indent="0" lvl="0" marL="0" rtl="0" algn="l">
              <a:spcBef>
                <a:spcPts val="640"/>
              </a:spcBef>
              <a:spcAft>
                <a:spcPts val="0"/>
              </a:spcAft>
              <a:buClr>
                <a:schemeClr val="dk1"/>
              </a:buClr>
              <a:buSzPts val="3200"/>
              <a:buNone/>
            </a:pPr>
            <a:r>
              <a:rPr lang="en-US"/>
              <a:t>d. gas and liquid mixtures</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37" name="Google Shape;23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5.Janice, cooked a delicious dish called Caldereta, you can see the ingredients in her dish. What kind of mixture is the Caldereta?</a:t>
            </a:r>
            <a:endParaRPr/>
          </a:p>
          <a:p>
            <a:pPr indent="0" lvl="0" marL="0" rtl="0" algn="l">
              <a:spcBef>
                <a:spcPts val="640"/>
              </a:spcBef>
              <a:spcAft>
                <a:spcPts val="0"/>
              </a:spcAft>
              <a:buClr>
                <a:schemeClr val="dk1"/>
              </a:buClr>
              <a:buSzPts val="3200"/>
              <a:buNone/>
            </a:pPr>
            <a:r>
              <a:rPr lang="en-US"/>
              <a:t>a. heterogeneous</a:t>
            </a:r>
            <a:endParaRPr/>
          </a:p>
          <a:p>
            <a:pPr indent="0" lvl="0" marL="0" rtl="0" algn="l">
              <a:spcBef>
                <a:spcPts val="640"/>
              </a:spcBef>
              <a:spcAft>
                <a:spcPts val="0"/>
              </a:spcAft>
              <a:buClr>
                <a:schemeClr val="dk1"/>
              </a:buClr>
              <a:buSzPts val="3200"/>
              <a:buNone/>
            </a:pPr>
            <a:r>
              <a:rPr lang="en-US"/>
              <a:t>b. homogeneous</a:t>
            </a:r>
            <a:endParaRPr/>
          </a:p>
          <a:p>
            <a:pPr indent="0" lvl="0" marL="0" rtl="0" algn="l">
              <a:spcBef>
                <a:spcPts val="640"/>
              </a:spcBef>
              <a:spcAft>
                <a:spcPts val="0"/>
              </a:spcAft>
              <a:buClr>
                <a:schemeClr val="dk1"/>
              </a:buClr>
              <a:buSzPts val="3200"/>
              <a:buNone/>
            </a:pPr>
            <a:r>
              <a:rPr lang="en-US"/>
              <a:t>c. solid and liquid</a:t>
            </a:r>
            <a:endParaRPr/>
          </a:p>
          <a:p>
            <a:pPr indent="0" lvl="0" marL="0" rtl="0" algn="l">
              <a:spcBef>
                <a:spcPts val="640"/>
              </a:spcBef>
              <a:spcAft>
                <a:spcPts val="0"/>
              </a:spcAft>
              <a:buClr>
                <a:schemeClr val="dk1"/>
              </a:buClr>
              <a:buSzPts val="3200"/>
              <a:buNone/>
            </a:pPr>
            <a:r>
              <a:rPr lang="en-US"/>
              <a:t>d. gas and liquid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SCIENCE 6</a:t>
            </a:r>
            <a:br>
              <a:rPr lang="en-US"/>
            </a:br>
            <a:r>
              <a:rPr lang="en-US"/>
              <a:t>(</a:t>
            </a:r>
            <a:r>
              <a:rPr b="1" lang="en-US"/>
              <a:t>Describing Mixtures)</a:t>
            </a:r>
            <a:endParaRPr/>
          </a:p>
        </p:txBody>
      </p:sp>
      <p:sp>
        <p:nvSpPr>
          <p:cNvPr id="243" name="Google Shape;243;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None/>
            </a:pPr>
            <a:r>
              <a:rPr b="1" lang="en-US">
                <a:solidFill>
                  <a:schemeClr val="dk1"/>
                </a:solidFill>
              </a:rPr>
              <a:t>Quarter 1 </a:t>
            </a:r>
            <a:endParaRPr/>
          </a:p>
          <a:p>
            <a:pPr indent="0" lvl="0" marL="0" rtl="0" algn="ctr">
              <a:spcBef>
                <a:spcPts val="640"/>
              </a:spcBef>
              <a:spcAft>
                <a:spcPts val="0"/>
              </a:spcAft>
              <a:buClr>
                <a:schemeClr val="dk1"/>
              </a:buClr>
              <a:buSzPts val="3200"/>
              <a:buNone/>
            </a:pPr>
            <a:r>
              <a:rPr b="1" lang="en-US">
                <a:solidFill>
                  <a:schemeClr val="dk1"/>
                </a:solidFill>
              </a:rPr>
              <a:t>Week 1 – Day 3</a:t>
            </a:r>
            <a:endParaRPr b="1">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49" name="Google Shape;249;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3200"/>
              <a:buNone/>
            </a:pPr>
            <a:r>
              <a:rPr lang="en-US"/>
              <a:t>Mix a substance that will turn into homogenous mixture.</a:t>
            </a:r>
            <a:endParaRPr/>
          </a:p>
          <a:p>
            <a:pPr indent="-139700" lvl="0" marL="34290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rPr lang="en-US"/>
              <a:t>1.	___ + ___ = ___</a:t>
            </a:r>
            <a:endParaRPr/>
          </a:p>
          <a:p>
            <a:pPr indent="0" lvl="0" marL="0" rtl="0" algn="l">
              <a:spcBef>
                <a:spcPts val="640"/>
              </a:spcBef>
              <a:spcAft>
                <a:spcPts val="0"/>
              </a:spcAft>
              <a:buClr>
                <a:schemeClr val="dk1"/>
              </a:buClr>
              <a:buSzPts val="3200"/>
              <a:buNone/>
            </a:pPr>
            <a:r>
              <a:rPr lang="en-US"/>
              <a:t>2.	___+ ___ = ____</a:t>
            </a:r>
            <a:endParaRPr/>
          </a:p>
          <a:p>
            <a:pPr indent="0" lvl="0" marL="0" rtl="0" algn="l">
              <a:spcBef>
                <a:spcPts val="640"/>
              </a:spcBef>
              <a:spcAft>
                <a:spcPts val="0"/>
              </a:spcAft>
              <a:buClr>
                <a:schemeClr val="dk1"/>
              </a:buClr>
              <a:buSzPts val="3200"/>
              <a:buNone/>
            </a:pPr>
            <a:r>
              <a:rPr lang="en-US"/>
              <a:t>3.	___+ ___ = ____</a:t>
            </a:r>
            <a:endParaRPr/>
          </a:p>
          <a:p>
            <a:pPr indent="0" lvl="0" marL="0" rtl="0" algn="l">
              <a:spcBef>
                <a:spcPts val="640"/>
              </a:spcBef>
              <a:spcAft>
                <a:spcPts val="0"/>
              </a:spcAft>
              <a:buClr>
                <a:schemeClr val="dk1"/>
              </a:buClr>
              <a:buSzPts val="3200"/>
              <a:buNone/>
            </a:pPr>
            <a:r>
              <a:rPr lang="en-US"/>
              <a:t>4.	___+ ___ = ____</a:t>
            </a:r>
            <a:endParaRPr/>
          </a:p>
          <a:p>
            <a:pPr indent="0" lvl="0" marL="0" rtl="0" algn="l">
              <a:spcBef>
                <a:spcPts val="640"/>
              </a:spcBef>
              <a:spcAft>
                <a:spcPts val="0"/>
              </a:spcAft>
              <a:buClr>
                <a:schemeClr val="dk1"/>
              </a:buClr>
              <a:buSzPts val="3200"/>
              <a:buNone/>
            </a:pPr>
            <a:r>
              <a:rPr lang="en-US"/>
              <a:t>5.	___+ ___ = ____</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Look at the picture and describe it.</a:t>
            </a:r>
            <a:endParaRPr/>
          </a:p>
        </p:txBody>
      </p:sp>
      <p:pic>
        <p:nvPicPr>
          <p:cNvPr id="255" name="Google Shape;255;p28"/>
          <p:cNvPicPr preferRelativeResize="0"/>
          <p:nvPr>
            <p:ph idx="1" type="body"/>
          </p:nvPr>
        </p:nvPicPr>
        <p:blipFill rotWithShape="1">
          <a:blip r:embed="rId3">
            <a:alphaModFix/>
          </a:blip>
          <a:srcRect b="0" l="0" r="0" t="0"/>
          <a:stretch/>
        </p:blipFill>
        <p:spPr>
          <a:xfrm>
            <a:off x="2411760" y="2276872"/>
            <a:ext cx="4536504" cy="367240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Let us learn more about describing mixtures.</a:t>
            </a:r>
            <a:endParaRPr/>
          </a:p>
        </p:txBody>
      </p:sp>
      <p:sp>
        <p:nvSpPr>
          <p:cNvPr id="261" name="Google Shape;26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chemeClr val="dk1"/>
              </a:buClr>
              <a:buSzPct val="100000"/>
              <a:buNone/>
            </a:pPr>
            <a:r>
              <a:rPr lang="en-US"/>
              <a:t>Halo-halo is an example of a mixture. A mixture is a substance made by mixing other substances together. When two or more elements or compounds mix together, not necessarily in a definite ratio and do not interact chemically, then the resulting substance is known as a mixture.</a:t>
            </a:r>
            <a:endParaRPr/>
          </a:p>
          <a:p>
            <a:pPr indent="0" lvl="0" marL="0" rtl="0" algn="l">
              <a:spcBef>
                <a:spcPts val="592"/>
              </a:spcBef>
              <a:spcAft>
                <a:spcPts val="0"/>
              </a:spcAft>
              <a:buClr>
                <a:schemeClr val="dk1"/>
              </a:buClr>
              <a:buSzPct val="100000"/>
              <a:buNone/>
            </a:pPr>
            <a:r>
              <a:rPr lang="en-US"/>
              <a:t>In Figure 1, can you identify the components or ingredients that were  combined to make halo-halo? What are these materials?</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67" name="Google Shape;267;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Clr>
                <a:schemeClr val="dk1"/>
              </a:buClr>
              <a:buSzPct val="100000"/>
              <a:buNone/>
            </a:pPr>
            <a:r>
              <a:rPr lang="en-US"/>
              <a:t>In this kind of mixture, you can distinguish some pieces of corn, banana, beans and other materials that make up the mixture in halo-halo. The mixed materials can be classified depending on the appearance of the resulting mixture. Each of the combined/mixed materials can be identified or distinguished from one another. This kind of mixture is called heterogeneous mixture. Each property of the materials in heterogeneous mixtures do not change.</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Types of Mixture</a:t>
            </a:r>
            <a:endParaRPr/>
          </a:p>
        </p:txBody>
      </p:sp>
      <p:sp>
        <p:nvSpPr>
          <p:cNvPr id="273" name="Google Shape;273;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There are two types of mixtures. One is homogenous mixture which contains substances that are evenly mixed and is uniform throughout in terms of physical appearance. The other one is heterogeneous mixture which contains component substances that are usually easy to distinguish. </a:t>
            </a:r>
            <a:endParaRPr/>
          </a:p>
          <a:p>
            <a:pPr indent="0" lvl="0" marL="0" rtl="0" algn="l">
              <a:spcBef>
                <a:spcPts val="640"/>
              </a:spcBef>
              <a:spcAft>
                <a:spcPts val="0"/>
              </a:spcAft>
              <a:buClr>
                <a:schemeClr val="dk1"/>
              </a:buClr>
              <a:buSzPts val="32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79" name="Google Shape;279;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Examine the pictures in Figure 2. Can you identify the materials that make up these mixtures?</a:t>
            </a:r>
            <a:endParaRPr/>
          </a:p>
          <a:p>
            <a:pPr indent="0" lvl="0" marL="0" rtl="0" algn="l">
              <a:spcBef>
                <a:spcPts val="640"/>
              </a:spcBef>
              <a:spcAft>
                <a:spcPts val="0"/>
              </a:spcAft>
              <a:buClr>
                <a:schemeClr val="dk1"/>
              </a:buClr>
              <a:buSzPts val="3200"/>
              <a:buNone/>
            </a:pPr>
            <a:r>
              <a:t/>
            </a:r>
            <a:endParaRPr/>
          </a:p>
        </p:txBody>
      </p:sp>
      <p:pic>
        <p:nvPicPr>
          <p:cNvPr id="280" name="Google Shape;280;p32"/>
          <p:cNvPicPr preferRelativeResize="0"/>
          <p:nvPr/>
        </p:nvPicPr>
        <p:blipFill rotWithShape="1">
          <a:blip r:embed="rId3">
            <a:alphaModFix/>
          </a:blip>
          <a:srcRect b="0" l="0" r="0" t="0"/>
          <a:stretch/>
        </p:blipFill>
        <p:spPr>
          <a:xfrm>
            <a:off x="2843808" y="2991792"/>
            <a:ext cx="3119615" cy="252028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86" name="Google Shape;286;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Discuss the concept of the lesson.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292" name="Google Shape;292;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List down 5 heterogeneous mixtures found around us and identify the substances contained in the mixtures. Use a table.</a:t>
            </a:r>
            <a:endParaRPr/>
          </a:p>
          <a:p>
            <a:pPr indent="0" lvl="0" marL="0" rtl="0" algn="l">
              <a:spcBef>
                <a:spcPts val="640"/>
              </a:spcBef>
              <a:spcAft>
                <a:spcPts val="0"/>
              </a:spcAft>
              <a:buClr>
                <a:schemeClr val="dk1"/>
              </a:buClr>
              <a:buSzPts val="3200"/>
              <a:buNone/>
            </a:pPr>
            <a:r>
              <a:rPr lang="en-US"/>
              <a:t>		</a:t>
            </a:r>
            <a:endParaRPr/>
          </a:p>
          <a:p>
            <a:pPr indent="-139700" lvl="0" marL="342900" rtl="0" algn="l">
              <a:spcBef>
                <a:spcPts val="640"/>
              </a:spcBef>
              <a:spcAft>
                <a:spcPts val="0"/>
              </a:spcAft>
              <a:buClr>
                <a:schemeClr val="dk1"/>
              </a:buClr>
              <a:buSzPts val="3200"/>
              <a:buNone/>
            </a:pPr>
            <a:r>
              <a:t/>
            </a:r>
            <a:endParaRPr/>
          </a:p>
        </p:txBody>
      </p:sp>
      <p:graphicFrame>
        <p:nvGraphicFramePr>
          <p:cNvPr id="293" name="Google Shape;293;p34"/>
          <p:cNvGraphicFramePr/>
          <p:nvPr/>
        </p:nvGraphicFramePr>
        <p:xfrm>
          <a:off x="1187624" y="3501008"/>
          <a:ext cx="3000000" cy="3000000"/>
        </p:xfrm>
        <a:graphic>
          <a:graphicData uri="http://schemas.openxmlformats.org/drawingml/2006/table">
            <a:tbl>
              <a:tblPr bandRow="1" firstRow="1">
                <a:noFill/>
                <a:tableStyleId>{CA4230E7-800E-4192-A647-07BC10C49D38}</a:tableStyleId>
              </a:tblPr>
              <a:tblGrid>
                <a:gridCol w="3348375"/>
                <a:gridCol w="3348375"/>
              </a:tblGrid>
              <a:tr h="618350">
                <a:tc>
                  <a:txBody>
                    <a:bodyPr/>
                    <a:lstStyle/>
                    <a:p>
                      <a:pPr indent="0" lvl="0" marL="0" marR="0" rtl="0" algn="ctr">
                        <a:spcBef>
                          <a:spcPts val="0"/>
                        </a:spcBef>
                        <a:spcAft>
                          <a:spcPts val="0"/>
                        </a:spcAft>
                        <a:buNone/>
                      </a:pPr>
                      <a:r>
                        <a:rPr lang="en-US" sz="1800" u="none" cap="none" strike="noStrike"/>
                        <a:t>Mixture</a:t>
                      </a:r>
                      <a:endParaRPr sz="1800" u="none" cap="none" strike="noStrike"/>
                    </a:p>
                  </a:txBody>
                  <a:tcPr marT="45725" marB="45725" marR="91450" marL="91450"/>
                </a:tc>
                <a:tc>
                  <a:txBody>
                    <a:bodyPr/>
                    <a:lstStyle/>
                    <a:p>
                      <a:pPr indent="0" lvl="0" marL="0" marR="0" rtl="0" algn="ctr">
                        <a:spcBef>
                          <a:spcPts val="0"/>
                        </a:spcBef>
                        <a:spcAft>
                          <a:spcPts val="0"/>
                        </a:spcAft>
                        <a:buNone/>
                      </a:pPr>
                      <a:r>
                        <a:rPr lang="en-US" sz="1800" u="none" cap="none" strike="noStrike"/>
                        <a:t>Substances</a:t>
                      </a:r>
                      <a:endParaRPr sz="1800" u="none" cap="none" strike="noStrike"/>
                    </a:p>
                  </a:txBody>
                  <a:tcPr marT="45725" marB="45725" marR="91450" marL="91450"/>
                </a:tc>
              </a:tr>
              <a:tr h="62692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62692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299" name="Google Shape;299;p35"/>
          <p:cNvPicPr preferRelativeResize="0"/>
          <p:nvPr>
            <p:ph idx="1" type="body"/>
          </p:nvPr>
        </p:nvPicPr>
        <p:blipFill rotWithShape="1">
          <a:blip r:embed="rId3">
            <a:alphaModFix/>
          </a:blip>
          <a:srcRect b="0" l="0" r="0" t="0"/>
          <a:stretch/>
        </p:blipFill>
        <p:spPr>
          <a:xfrm>
            <a:off x="2699792" y="188639"/>
            <a:ext cx="3816424" cy="646413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t>Instruction: Complete the Venn diagram. Write the differences and similarities of two mixtures</a:t>
            </a:r>
            <a:endParaRPr sz="3200"/>
          </a:p>
        </p:txBody>
      </p:sp>
      <p:pic>
        <p:nvPicPr>
          <p:cNvPr id="305" name="Google Shape;305;p36"/>
          <p:cNvPicPr preferRelativeResize="0"/>
          <p:nvPr>
            <p:ph idx="1" type="body"/>
          </p:nvPr>
        </p:nvPicPr>
        <p:blipFill rotWithShape="1">
          <a:blip r:embed="rId3">
            <a:alphaModFix/>
          </a:blip>
          <a:srcRect b="0" l="0" r="0" t="0"/>
          <a:stretch/>
        </p:blipFill>
        <p:spPr>
          <a:xfrm>
            <a:off x="1115616" y="1772816"/>
            <a:ext cx="7272807" cy="439248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SCIENCE 6</a:t>
            </a:r>
            <a:br>
              <a:rPr lang="en-US"/>
            </a:br>
            <a:r>
              <a:rPr lang="en-US"/>
              <a:t>(</a:t>
            </a:r>
            <a:r>
              <a:rPr b="1" lang="en-US"/>
              <a:t>Describing Mixtures)</a:t>
            </a:r>
            <a:endParaRPr/>
          </a:p>
        </p:txBody>
      </p:sp>
      <p:sp>
        <p:nvSpPr>
          <p:cNvPr id="311" name="Google Shape;311;p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3200"/>
              <a:buNone/>
            </a:pPr>
            <a:r>
              <a:rPr b="1" lang="en-US">
                <a:solidFill>
                  <a:schemeClr val="dk1"/>
                </a:solidFill>
              </a:rPr>
              <a:t>Quarter 1 </a:t>
            </a:r>
            <a:endParaRPr/>
          </a:p>
          <a:p>
            <a:pPr indent="0" lvl="0" marL="0" rtl="0" algn="ctr">
              <a:spcBef>
                <a:spcPts val="640"/>
              </a:spcBef>
              <a:spcAft>
                <a:spcPts val="0"/>
              </a:spcAft>
              <a:buClr>
                <a:schemeClr val="dk1"/>
              </a:buClr>
              <a:buSzPts val="3200"/>
              <a:buNone/>
            </a:pPr>
            <a:r>
              <a:rPr b="1" lang="en-US">
                <a:solidFill>
                  <a:schemeClr val="dk1"/>
                </a:solidFill>
              </a:rPr>
              <a:t>Week 1 – Day 4</a:t>
            </a:r>
            <a:endParaRPr b="1">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Let’s mix!</a:t>
            </a:r>
            <a:endParaRPr/>
          </a:p>
        </p:txBody>
      </p:sp>
      <p:sp>
        <p:nvSpPr>
          <p:cNvPr id="317" name="Google Shape;317;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Clr>
                <a:schemeClr val="dk1"/>
              </a:buClr>
              <a:buSzPts val="3200"/>
              <a:buNone/>
            </a:pPr>
            <a:r>
              <a:rPr lang="en-US"/>
              <a:t>Mix a substance that will turn into heterogeneous mixture.</a:t>
            </a:r>
            <a:endParaRPr/>
          </a:p>
          <a:p>
            <a:pPr indent="-139700" lvl="0" marL="342900" rtl="0" algn="l">
              <a:spcBef>
                <a:spcPts val="640"/>
              </a:spcBef>
              <a:spcAft>
                <a:spcPts val="0"/>
              </a:spcAft>
              <a:buClr>
                <a:schemeClr val="dk1"/>
              </a:buClr>
              <a:buSzPts val="3200"/>
              <a:buNone/>
            </a:pPr>
            <a:r>
              <a:t/>
            </a:r>
            <a:endParaRPr/>
          </a:p>
          <a:p>
            <a:pPr indent="0" lvl="0" marL="0" rtl="0" algn="l">
              <a:spcBef>
                <a:spcPts val="640"/>
              </a:spcBef>
              <a:spcAft>
                <a:spcPts val="0"/>
              </a:spcAft>
              <a:buClr>
                <a:schemeClr val="dk1"/>
              </a:buClr>
              <a:buSzPts val="3200"/>
              <a:buNone/>
            </a:pPr>
            <a:r>
              <a:rPr lang="en-US"/>
              <a:t>1.	___ + ___ = ___</a:t>
            </a:r>
            <a:endParaRPr/>
          </a:p>
          <a:p>
            <a:pPr indent="0" lvl="0" marL="0" rtl="0" algn="l">
              <a:spcBef>
                <a:spcPts val="640"/>
              </a:spcBef>
              <a:spcAft>
                <a:spcPts val="0"/>
              </a:spcAft>
              <a:buClr>
                <a:schemeClr val="dk1"/>
              </a:buClr>
              <a:buSzPts val="3200"/>
              <a:buNone/>
            </a:pPr>
            <a:r>
              <a:rPr lang="en-US"/>
              <a:t>2.	___+ ___ = ____</a:t>
            </a:r>
            <a:endParaRPr/>
          </a:p>
          <a:p>
            <a:pPr indent="0" lvl="0" marL="0" rtl="0" algn="l">
              <a:spcBef>
                <a:spcPts val="640"/>
              </a:spcBef>
              <a:spcAft>
                <a:spcPts val="0"/>
              </a:spcAft>
              <a:buClr>
                <a:schemeClr val="dk1"/>
              </a:buClr>
              <a:buSzPts val="3200"/>
              <a:buNone/>
            </a:pPr>
            <a:r>
              <a:rPr lang="en-US"/>
              <a:t>3.	___+ ___ = ____</a:t>
            </a:r>
            <a:endParaRPr/>
          </a:p>
          <a:p>
            <a:pPr indent="0" lvl="0" marL="0" rtl="0" algn="l">
              <a:spcBef>
                <a:spcPts val="640"/>
              </a:spcBef>
              <a:spcAft>
                <a:spcPts val="0"/>
              </a:spcAft>
              <a:buClr>
                <a:schemeClr val="dk1"/>
              </a:buClr>
              <a:buSzPts val="3200"/>
              <a:buNone/>
            </a:pPr>
            <a:r>
              <a:rPr lang="en-US"/>
              <a:t>4.	___+ ___ = ____</a:t>
            </a:r>
            <a:endParaRPr/>
          </a:p>
          <a:p>
            <a:pPr indent="0" lvl="0" marL="0" rtl="0" algn="l">
              <a:spcBef>
                <a:spcPts val="640"/>
              </a:spcBef>
              <a:spcAft>
                <a:spcPts val="0"/>
              </a:spcAft>
              <a:buClr>
                <a:schemeClr val="dk1"/>
              </a:buClr>
              <a:buSzPts val="3200"/>
              <a:buNone/>
            </a:pPr>
            <a:r>
              <a:rPr lang="en-US"/>
              <a:t>5.	___+ ___ = ____</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23" name="Google Shape;323;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Give another examples of solid homogeneous around you.</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29" name="Google Shape;329;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Homogeneous mixtures have uniform composition where the substances are evenly mixed. They are also called solution. In its component, the substance that dissolves or seems to disappear is called a</a:t>
            </a:r>
            <a:endParaRPr/>
          </a:p>
          <a:p>
            <a:pPr indent="0" lvl="0" marL="0" rtl="0" algn="l">
              <a:spcBef>
                <a:spcPts val="640"/>
              </a:spcBef>
              <a:spcAft>
                <a:spcPts val="0"/>
              </a:spcAft>
              <a:buClr>
                <a:schemeClr val="dk1"/>
              </a:buClr>
              <a:buSzPts val="3200"/>
              <a:buNone/>
            </a:pPr>
            <a:r>
              <a:rPr lang="en-US"/>
              <a:t>solute while the one that dissolves is the solvent.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35" name="Google Shape;335;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lang="en-US"/>
              <a:t>Most of the time, the formation of this kind of mixture is associated with the process of dissolving. We say soluble if the solid solute completely dissolved in the liquid solvent and insoluble if it is not. While if the components are both liquid, the term miscible or immiscible is used. Salt dissolves in water. Salt is the solute, and water is the solvent. This property of solutes is called solubility. It is measured in the amount of solute that can dissolve in a fixed amount of solvent. Air is an example of gaseous solution. Metal alloys are examples of solutions in the solid phase. Ammonia water is a liquid solution made up of ammonia gas dissolved in water.  Ammonia gas is the solute and water is the solvent.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41" name="Google Shape;341;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Discuss the concept of the lesson.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47" name="Google Shape;347;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List down 5 homogeneous mixtures found around us and identify the substances contained in the mixtures. Use a table.</a:t>
            </a:r>
            <a:endParaRPr/>
          </a:p>
          <a:p>
            <a:pPr indent="0" lvl="0" marL="0" rtl="0" algn="l">
              <a:spcBef>
                <a:spcPts val="640"/>
              </a:spcBef>
              <a:spcAft>
                <a:spcPts val="0"/>
              </a:spcAft>
              <a:buClr>
                <a:schemeClr val="dk1"/>
              </a:buClr>
              <a:buSzPts val="3200"/>
              <a:buNone/>
            </a:pPr>
            <a:r>
              <a:rPr lang="en-US"/>
              <a:t>		</a:t>
            </a:r>
            <a:endParaRPr/>
          </a:p>
          <a:p>
            <a:pPr indent="-139700" lvl="0" marL="342900" rtl="0" algn="l">
              <a:spcBef>
                <a:spcPts val="640"/>
              </a:spcBef>
              <a:spcAft>
                <a:spcPts val="0"/>
              </a:spcAft>
              <a:buClr>
                <a:schemeClr val="dk1"/>
              </a:buClr>
              <a:buSzPts val="3200"/>
              <a:buNone/>
            </a:pPr>
            <a:r>
              <a:t/>
            </a:r>
            <a:endParaRPr/>
          </a:p>
        </p:txBody>
      </p:sp>
      <p:graphicFrame>
        <p:nvGraphicFramePr>
          <p:cNvPr id="348" name="Google Shape;348;p43"/>
          <p:cNvGraphicFramePr/>
          <p:nvPr/>
        </p:nvGraphicFramePr>
        <p:xfrm>
          <a:off x="1187624" y="3501008"/>
          <a:ext cx="3000000" cy="3000000"/>
        </p:xfrm>
        <a:graphic>
          <a:graphicData uri="http://schemas.openxmlformats.org/drawingml/2006/table">
            <a:tbl>
              <a:tblPr bandRow="1" firstRow="1">
                <a:noFill/>
                <a:tableStyleId>{CA4230E7-800E-4192-A647-07BC10C49D38}</a:tableStyleId>
              </a:tblPr>
              <a:tblGrid>
                <a:gridCol w="3348375"/>
                <a:gridCol w="3348375"/>
              </a:tblGrid>
              <a:tr h="618350">
                <a:tc>
                  <a:txBody>
                    <a:bodyPr/>
                    <a:lstStyle/>
                    <a:p>
                      <a:pPr indent="0" lvl="0" marL="0" marR="0" rtl="0" algn="ctr">
                        <a:spcBef>
                          <a:spcPts val="0"/>
                        </a:spcBef>
                        <a:spcAft>
                          <a:spcPts val="0"/>
                        </a:spcAft>
                        <a:buNone/>
                      </a:pPr>
                      <a:r>
                        <a:rPr lang="en-US" sz="1800"/>
                        <a:t>Mixture</a:t>
                      </a:r>
                      <a:endParaRPr sz="1800"/>
                    </a:p>
                  </a:txBody>
                  <a:tcPr marT="45725" marB="45725" marR="91450" marL="91450"/>
                </a:tc>
                <a:tc>
                  <a:txBody>
                    <a:bodyPr/>
                    <a:lstStyle/>
                    <a:p>
                      <a:pPr indent="0" lvl="0" marL="0" marR="0" rtl="0" algn="ctr">
                        <a:spcBef>
                          <a:spcPts val="0"/>
                        </a:spcBef>
                        <a:spcAft>
                          <a:spcPts val="0"/>
                        </a:spcAft>
                        <a:buNone/>
                      </a:pPr>
                      <a:r>
                        <a:rPr lang="en-US" sz="1800"/>
                        <a:t>Substances</a:t>
                      </a:r>
                      <a:endParaRPr sz="1800"/>
                    </a:p>
                  </a:txBody>
                  <a:tcPr marT="45725" marB="45725" marR="91450" marL="91450"/>
                </a:tc>
              </a:tr>
              <a:tr h="62692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62692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pic>
        <p:nvPicPr>
          <p:cNvPr id="354" name="Google Shape;354;p44"/>
          <p:cNvPicPr preferRelativeResize="0"/>
          <p:nvPr>
            <p:ph idx="1" type="body"/>
          </p:nvPr>
        </p:nvPicPr>
        <p:blipFill rotWithShape="1">
          <a:blip r:embed="rId3">
            <a:alphaModFix/>
          </a:blip>
          <a:srcRect b="0" l="0" r="0" t="0"/>
          <a:stretch/>
        </p:blipFill>
        <p:spPr>
          <a:xfrm>
            <a:off x="2699792" y="188639"/>
            <a:ext cx="3816424" cy="646413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360" name="Google Shape;360;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US"/>
              <a:t>Instructions: Let’s reflect on our discussion. How can you use these lessons in real life situation?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2023-08-25T03:20:26Z</dcterms:created>
  <dc:creator>Mae Manuel</dc:creator>
</cp:coreProperties>
</file>